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E5CE2D-16BA-4B2A-A572-71233DCE23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F84D39-C9A0-4723-8395-15C83B208E84}"/>
              </a:ext>
            </a:extLst>
          </p:cNvPr>
          <p:cNvSpPr>
            <a:spLocks noGrp="1"/>
          </p:cNvSpPr>
          <p:nvPr/>
        </p:nvSpPr>
        <p:spPr>
          <a:xfrm>
            <a:off x="704850" y="7048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2B928"/>
                </a:solidFill>
              </a:defRPr>
            </a:pPr>
            <a:r>
              <a:rPr sz="1125" b="1">
                <a:solidFill>
                  <a:srgbClr val="F2B928"/>
                </a:solidFill>
              </a:rPr>
              <a:t>11KCHBB APP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AB0498-E969-42EB-9329-D5F3400A9839}"/>
              </a:ext>
            </a:extLst>
          </p:cNvPr>
          <p:cNvSpPr>
            <a:spLocks noGrp="1"/>
          </p:cNvSpPr>
          <p:nvPr/>
        </p:nvSpPr>
        <p:spPr>
          <a:xfrm>
            <a:off x="704850" y="1581150"/>
            <a:ext cx="6858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Use the app with confidence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8A96AD-4076-4E3F-B526-C85748EED631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647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D8E8F7"/>
                </a:solidFill>
              </a:defRPr>
            </a:pPr>
            <a:r>
              <a:rPr sz="1725" b="0">
                <a:solidFill>
                  <a:srgbClr val="D8E8F7"/>
                </a:solidFill>
              </a:rPr>
              <a:t>A practical guide for members, NCOs, squad leaders, officers, administrators and quartermasters.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79980B5-3441-4BAD-BA2C-746E6F0D69B8}"/>
              </a:ext>
            </a:extLst>
          </p:cNvPr>
          <p:cNvSpPr>
            <a:spLocks noGrp="1"/>
          </p:cNvSpPr>
          <p:nvPr/>
        </p:nvSpPr>
        <p:spPr>
          <a:xfrm>
            <a:off x="8334375" y="1428750"/>
            <a:ext cx="2381250" cy="2381250"/>
          </a:xfrm>
          <a:prstGeom prst="ellipse">
            <a:avLst/>
          </a:prstGeom>
          <a:solidFill>
            <a:srgbClr val="0F477B"/>
          </a:solidFill>
          <a:ln w="19050">
            <a:solidFill>
              <a:srgbClr val="2D6190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A11A4E-E483-458D-8CFB-013307A2B74F}"/>
              </a:ext>
            </a:extLst>
          </p:cNvPr>
          <p:cNvSpPr>
            <a:spLocks noGrp="1"/>
          </p:cNvSpPr>
          <p:nvPr/>
        </p:nvSpPr>
        <p:spPr>
          <a:xfrm>
            <a:off x="8334375" y="2076450"/>
            <a:ext cx="238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900" b="1">
                <a:solidFill>
                  <a:srgbClr val="F2B928"/>
                </a:solidFill>
              </a:defRPr>
            </a:pPr>
            <a:r>
              <a:rPr sz="3900" b="1">
                <a:solidFill>
                  <a:srgbClr val="F2B928"/>
                </a:solidFill>
              </a:rPr>
              <a:t>B 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66383-BCD2-4999-8AA5-9C58DF67B15B}"/>
              </a:ext>
            </a:extLst>
          </p:cNvPr>
          <p:cNvSpPr>
            <a:spLocks noGrp="1"/>
          </p:cNvSpPr>
          <p:nvPr/>
        </p:nvSpPr>
        <p:spPr>
          <a:xfrm>
            <a:off x="8334375" y="28765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COMPANY</a:t>
            </a:r>
          </a:p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OPERATIONS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CCC701-C3E6-47EF-95FA-A61703C46E10}"/>
              </a:ext>
            </a:extLst>
          </p:cNvPr>
          <p:cNvSpPr>
            <a:spLocks noGrp="1"/>
          </p:cNvSpPr>
          <p:nvPr/>
        </p:nvSpPr>
        <p:spPr>
          <a:xfrm>
            <a:off x="742950" y="59626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AFC8DF"/>
                </a:solidFill>
              </a:defRPr>
            </a:pPr>
            <a:r>
              <a:rPr sz="1200" b="0">
                <a:solidFill>
                  <a:srgbClr val="AFC8DF"/>
                </a:solidFill>
              </a:rPr>
              <a:t>Tutorial • August 2026</a:t>
            </a:r>
          </a:p>
        </p:txBody>
      </p:sp>
    </p:spTree>
    <p:extLst>
      <p:ext uri="{BB962C8B-B14F-4D97-AF65-F5344CB8AC3E}">
        <p14:creationId xmlns:p14="http://schemas.microsoft.com/office/powerpoint/2010/main" val="860702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1013521-E188-4774-A290-670C873DCB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24C15A-C44A-41C4-8D69-4E152BF0B023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START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F1DEA-3BB4-450E-87C1-59EA2E0A8D79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283C1A-4FF9-4EF0-AC44-CE9D131E8EF8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46304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6781AD-10CF-46F1-B01E-77860B84F471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The app is organised around four work hubs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CC96CA-2DA1-4EE5-81DE-3D6104D7B502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Start with the hub that matches what you want to do.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BB9292-8EDD-483C-9D99-673BF2C3F23F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2552700" cy="2476500"/>
          </a:xfrm>
          <a:prstGeom prst="roundRect">
            <a:avLst>
              <a:gd name="adj" fmla="val 4615"/>
            </a:avLst>
          </a:prstGeom>
          <a:solidFill>
            <a:srgbClr val="EAF3FC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B8CB85-3E89-4BF0-87CD-E4B5D9B88CD8}"/>
              </a:ext>
            </a:extLst>
          </p:cNvPr>
          <p:cNvSpPr>
            <a:spLocks noGrp="1"/>
          </p:cNvSpPr>
          <p:nvPr/>
        </p:nvSpPr>
        <p:spPr>
          <a:xfrm>
            <a:off x="838200" y="232410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674D1"/>
                </a:solidFill>
              </a:defRPr>
            </a:pPr>
            <a:r>
              <a:rPr sz="1800" b="1">
                <a:solidFill>
                  <a:srgbClr val="1674D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0D5A3E-6082-4D30-A5DC-94AAC0CF58DB}"/>
              </a:ext>
            </a:extLst>
          </p:cNvPr>
          <p:cNvSpPr>
            <a:spLocks noGrp="1"/>
          </p:cNvSpPr>
          <p:nvPr/>
        </p:nvSpPr>
        <p:spPr>
          <a:xfrm>
            <a:off x="838200" y="29146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345F"/>
                </a:solidFill>
              </a:defRPr>
            </a:pPr>
            <a:r>
              <a:rPr sz="1725" b="1">
                <a:solidFill>
                  <a:srgbClr val="08345F"/>
                </a:solidFill>
              </a:rPr>
              <a:t>HOME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9CD7D7-1781-45BA-A76C-46F6BBC15098}"/>
              </a:ext>
            </a:extLst>
          </p:cNvPr>
          <p:cNvSpPr>
            <a:spLocks noGrp="1"/>
          </p:cNvSpPr>
          <p:nvPr/>
        </p:nvSpPr>
        <p:spPr>
          <a:xfrm>
            <a:off x="838200" y="335280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Priorities, notifications and quick actions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FCDC5D-3D4E-435A-A0A7-27DC9F41CB85}"/>
              </a:ext>
            </a:extLst>
          </p:cNvPr>
          <p:cNvSpPr>
            <a:spLocks noGrp="1"/>
          </p:cNvSpPr>
          <p:nvPr/>
        </p:nvSpPr>
        <p:spPr>
          <a:xfrm>
            <a:off x="3390900" y="2095500"/>
            <a:ext cx="25527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BA8374-D2E5-4E42-A89E-BE09A758D25B}"/>
              </a:ext>
            </a:extLst>
          </p:cNvPr>
          <p:cNvSpPr>
            <a:spLocks noGrp="1"/>
          </p:cNvSpPr>
          <p:nvPr/>
        </p:nvSpPr>
        <p:spPr>
          <a:xfrm>
            <a:off x="3619500" y="232410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3343AA-C5F8-4932-8750-2A4ECFA766C1}"/>
              </a:ext>
            </a:extLst>
          </p:cNvPr>
          <p:cNvSpPr>
            <a:spLocks noGrp="1"/>
          </p:cNvSpPr>
          <p:nvPr/>
        </p:nvSpPr>
        <p:spPr>
          <a:xfrm>
            <a:off x="3619500" y="29146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345F"/>
                </a:solidFill>
              </a:defRPr>
            </a:pPr>
            <a:r>
              <a:rPr sz="1725" b="1">
                <a:solidFill>
                  <a:srgbClr val="08345F"/>
                </a:solidFill>
              </a:rPr>
              <a:t>PEOPLE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B25D5-8313-4250-AE52-076D477686B2}"/>
              </a:ext>
            </a:extLst>
          </p:cNvPr>
          <p:cNvSpPr>
            <a:spLocks noGrp="1"/>
          </p:cNvSpPr>
          <p:nvPr/>
        </p:nvSpPr>
        <p:spPr>
          <a:xfrm>
            <a:off x="3619500" y="335280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Members, awards, attendance and progress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94140D5-58C8-43B9-8FC1-92E60C947105}"/>
              </a:ext>
            </a:extLst>
          </p:cNvPr>
          <p:cNvSpPr>
            <a:spLocks noGrp="1"/>
          </p:cNvSpPr>
          <p:nvPr/>
        </p:nvSpPr>
        <p:spPr>
          <a:xfrm>
            <a:off x="6172200" y="2095500"/>
            <a:ext cx="25527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2E6076-E6CB-4EEE-AFAD-17C8530AD5A2}"/>
              </a:ext>
            </a:extLst>
          </p:cNvPr>
          <p:cNvSpPr>
            <a:spLocks noGrp="1"/>
          </p:cNvSpPr>
          <p:nvPr/>
        </p:nvSpPr>
        <p:spPr>
          <a:xfrm>
            <a:off x="6400800" y="232410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1C2B10-3AF6-4A60-8C39-E286DA1A519B}"/>
              </a:ext>
            </a:extLst>
          </p:cNvPr>
          <p:cNvSpPr>
            <a:spLocks noGrp="1"/>
          </p:cNvSpPr>
          <p:nvPr/>
        </p:nvSpPr>
        <p:spPr>
          <a:xfrm>
            <a:off x="6400800" y="29146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345F"/>
                </a:solidFill>
              </a:defRPr>
            </a:pPr>
            <a:r>
              <a:rPr sz="1725" b="1">
                <a:solidFill>
                  <a:srgbClr val="08345F"/>
                </a:solidFill>
              </a:rPr>
              <a:t>PROGRAMME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5C8327-5B72-462B-9D39-734C6572445F}"/>
              </a:ext>
            </a:extLst>
          </p:cNvPr>
          <p:cNvSpPr>
            <a:spLocks noGrp="1"/>
          </p:cNvSpPr>
          <p:nvPr/>
        </p:nvSpPr>
        <p:spPr>
          <a:xfrm>
            <a:off x="6400800" y="335280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Meetings, duties, resources and notices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E8C48B1-5A81-43EF-804B-33169835ECA3}"/>
              </a:ext>
            </a:extLst>
          </p:cNvPr>
          <p:cNvSpPr>
            <a:spLocks noGrp="1"/>
          </p:cNvSpPr>
          <p:nvPr/>
        </p:nvSpPr>
        <p:spPr>
          <a:xfrm>
            <a:off x="8953500" y="2095500"/>
            <a:ext cx="25527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BCD55F-D6D2-4741-B6A6-DC558C847A93}"/>
              </a:ext>
            </a:extLst>
          </p:cNvPr>
          <p:cNvSpPr>
            <a:spLocks noGrp="1"/>
          </p:cNvSpPr>
          <p:nvPr/>
        </p:nvSpPr>
        <p:spPr>
          <a:xfrm>
            <a:off x="9182100" y="232410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091C8E-D66A-4CD3-842F-93757A84671F}"/>
              </a:ext>
            </a:extLst>
          </p:cNvPr>
          <p:cNvSpPr>
            <a:spLocks noGrp="1"/>
          </p:cNvSpPr>
          <p:nvPr/>
        </p:nvSpPr>
        <p:spPr>
          <a:xfrm>
            <a:off x="9182100" y="29146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345F"/>
                </a:solidFill>
              </a:defRPr>
            </a:pPr>
            <a:r>
              <a:rPr sz="1725" b="1">
                <a:solidFill>
                  <a:srgbClr val="08345F"/>
                </a:solidFill>
              </a:rPr>
              <a:t>MANAGE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4EA72AE-EF6D-479F-B3B9-A434D554E7CD}"/>
              </a:ext>
            </a:extLst>
          </p:cNvPr>
          <p:cNvSpPr>
            <a:spLocks noGrp="1"/>
          </p:cNvSpPr>
          <p:nvPr/>
        </p:nvSpPr>
        <p:spPr>
          <a:xfrm>
            <a:off x="9182100" y="335280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Requests, stock, accounts and reports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861598-5FFD-4518-A6D6-A2589EA37C95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102A43"/>
                </a:solidFill>
              </a:defRPr>
            </a:pPr>
            <a:r>
              <a:rPr sz="1575" b="1">
                <a:solidFill>
                  <a:srgbClr val="102A43"/>
                </a:solidFill>
              </a:rPr>
              <a:t>The Senior / Junior switch stays at the top of navigation.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0D7954-8532-4AEA-B775-CEE6C795E451}"/>
              </a:ext>
            </a:extLst>
          </p:cNvPr>
          <p:cNvSpPr>
            <a:spLocks noGrp="1"/>
          </p:cNvSpPr>
          <p:nvPr/>
        </p:nvSpPr>
        <p:spPr>
          <a:xfrm>
            <a:off x="609600" y="54102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Only pages allowed for your role appear.</a:t>
            </a:r>
          </a:p>
        </p:txBody>
      </p:sp>
    </p:spTree>
    <p:extLst>
      <p:ext uri="{BB962C8B-B14F-4D97-AF65-F5344CB8AC3E}">
        <p14:creationId xmlns:p14="http://schemas.microsoft.com/office/powerpoint/2010/main" val="207779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D9296F9-49E9-4E37-9B70-C9010AD506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4E3DD8-D68A-4579-AB7E-882794764DFC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ACCOUNT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963812-8607-44EF-8BC9-A55AFAA6E0EF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EC88C5-E03E-4449-94DA-FA0D765F0C8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219456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E96634-F9BA-4C44-9F11-B0324C02147B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Sign in once, then secure your account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021810-3976-458A-B0EA-465D28945A29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Temporary passwords are only for the first login.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DB69FD-C537-4884-A9C3-6E983DE61FCA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514350" cy="514350"/>
          </a:xfrm>
          <a:prstGeom prst="ellipse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9ABC47-3B96-4352-8559-297D2B1C6269}"/>
              </a:ext>
            </a:extLst>
          </p:cNvPr>
          <p:cNvSpPr>
            <a:spLocks noGrp="1"/>
          </p:cNvSpPr>
          <p:nvPr/>
        </p:nvSpPr>
        <p:spPr>
          <a:xfrm>
            <a:off x="800100" y="22479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1CCFAF-D31F-4AF9-9F52-A11ADDAC51B8}"/>
              </a:ext>
            </a:extLst>
          </p:cNvPr>
          <p:cNvSpPr>
            <a:spLocks noGrp="1"/>
          </p:cNvSpPr>
          <p:nvPr/>
        </p:nvSpPr>
        <p:spPr>
          <a:xfrm>
            <a:off x="1485900" y="215265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Enter your email and temporary password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E414344-B285-4E01-853F-4E4B8A4AA908}"/>
              </a:ext>
            </a:extLst>
          </p:cNvPr>
          <p:cNvSpPr>
            <a:spLocks noGrp="1"/>
          </p:cNvSpPr>
          <p:nvPr/>
        </p:nvSpPr>
        <p:spPr>
          <a:xfrm>
            <a:off x="1485900" y="2476500"/>
            <a:ext cx="3981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Use the details created by an administrator.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B4F2D3F-513E-4911-B5F0-4BAAC4544321}"/>
              </a:ext>
            </a:extLst>
          </p:cNvPr>
          <p:cNvSpPr>
            <a:spLocks noGrp="1"/>
          </p:cNvSpPr>
          <p:nvPr/>
        </p:nvSpPr>
        <p:spPr>
          <a:xfrm>
            <a:off x="800100" y="3352800"/>
            <a:ext cx="514350" cy="514350"/>
          </a:xfrm>
          <a:prstGeom prst="ellipse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1BF423-A5A1-4AD5-98C3-C261628F15E6}"/>
              </a:ext>
            </a:extLst>
          </p:cNvPr>
          <p:cNvSpPr>
            <a:spLocks noGrp="1"/>
          </p:cNvSpPr>
          <p:nvPr/>
        </p:nvSpPr>
        <p:spPr>
          <a:xfrm>
            <a:off x="800100" y="344805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EDF560-A2E1-48F8-92DD-DF5BDCA563AC}"/>
              </a:ext>
            </a:extLst>
          </p:cNvPr>
          <p:cNvSpPr>
            <a:spLocks noGrp="1"/>
          </p:cNvSpPr>
          <p:nvPr/>
        </p:nvSpPr>
        <p:spPr>
          <a:xfrm>
            <a:off x="1485900" y="335280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Create a new private password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06221B-53D2-4A7A-BE34-DCD7004EDD64}"/>
              </a:ext>
            </a:extLst>
          </p:cNvPr>
          <p:cNvSpPr>
            <a:spLocks noGrp="1"/>
          </p:cNvSpPr>
          <p:nvPr/>
        </p:nvSpPr>
        <p:spPr>
          <a:xfrm>
            <a:off x="1485900" y="3676650"/>
            <a:ext cx="3981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Choose at least 10 characters and do not share it.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B6DF351-CDD9-4840-9796-131083B9AF39}"/>
              </a:ext>
            </a:extLst>
          </p:cNvPr>
          <p:cNvSpPr>
            <a:spLocks noGrp="1"/>
          </p:cNvSpPr>
          <p:nvPr/>
        </p:nvSpPr>
        <p:spPr>
          <a:xfrm>
            <a:off x="800100" y="4552950"/>
            <a:ext cx="514350" cy="514350"/>
          </a:xfrm>
          <a:prstGeom prst="ellipse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3B0F1C-5C09-4C35-9BD1-592F2E785FA2}"/>
              </a:ext>
            </a:extLst>
          </p:cNvPr>
          <p:cNvSpPr>
            <a:spLocks noGrp="1"/>
          </p:cNvSpPr>
          <p:nvPr/>
        </p:nvSpPr>
        <p:spPr>
          <a:xfrm>
            <a:off x="800100" y="46482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88EDD8-2051-4781-A430-B24D7F4AD3A0}"/>
              </a:ext>
            </a:extLst>
          </p:cNvPr>
          <p:cNvSpPr>
            <a:spLocks noGrp="1"/>
          </p:cNvSpPr>
          <p:nvPr/>
        </p:nvSpPr>
        <p:spPr>
          <a:xfrm>
            <a:off x="1485900" y="4552950"/>
            <a:ext cx="39814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Review your linked profile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195BC7-DA5A-4EBF-872F-EB3BDEFB917A}"/>
              </a:ext>
            </a:extLst>
          </p:cNvPr>
          <p:cNvSpPr>
            <a:spLocks noGrp="1"/>
          </p:cNvSpPr>
          <p:nvPr/>
        </p:nvSpPr>
        <p:spPr>
          <a:xfrm>
            <a:off x="1485900" y="4876800"/>
            <a:ext cx="39814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Report incorrect details through a correction request.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2F6B866-834B-4B39-8A27-17D5129F1F0D}"/>
              </a:ext>
            </a:extLst>
          </p:cNvPr>
          <p:cNvSpPr>
            <a:spLocks noGrp="1"/>
          </p:cNvSpPr>
          <p:nvPr/>
        </p:nvSpPr>
        <p:spPr>
          <a:xfrm>
            <a:off x="6724650" y="2095500"/>
            <a:ext cx="4400550" cy="3162300"/>
          </a:xfrm>
          <a:prstGeom prst="roundRect">
            <a:avLst>
              <a:gd name="adj" fmla="val 3614"/>
            </a:avLst>
          </a:prstGeom>
          <a:solidFill>
            <a:srgbClr val="FFF9E8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B5FB2F-CD89-4C3D-A2F8-C48B9CFFAD83}"/>
              </a:ext>
            </a:extLst>
          </p:cNvPr>
          <p:cNvSpPr>
            <a:spLocks noGrp="1"/>
          </p:cNvSpPr>
          <p:nvPr/>
        </p:nvSpPr>
        <p:spPr>
          <a:xfrm>
            <a:off x="7105650" y="2400300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8345F"/>
                </a:solidFill>
              </a:defRPr>
            </a:pPr>
            <a:r>
              <a:rPr sz="1875" b="1">
                <a:solidFill>
                  <a:srgbClr val="08345F"/>
                </a:solidFill>
              </a:rPr>
              <a:t>Good practice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CDA46C-D24B-432D-850A-38ED4AFA625B}"/>
              </a:ext>
            </a:extLst>
          </p:cNvPr>
          <p:cNvSpPr>
            <a:spLocks noGrp="1"/>
          </p:cNvSpPr>
          <p:nvPr/>
        </p:nvSpPr>
        <p:spPr>
          <a:xfrm>
            <a:off x="7105650" y="2952750"/>
            <a:ext cx="337185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 dirty="0">
                <a:solidFill>
                  <a:srgbClr val="102A43"/>
                </a:solidFill>
              </a:rPr>
              <a:t>• Sign out on shared devices</a:t>
            </a:r>
          </a:p>
          <a:p>
            <a:endParaRPr sz="1500" b="0" dirty="0">
              <a:solidFill>
                <a:srgbClr val="102A43"/>
              </a:solidFill>
            </a:endParaRPr>
          </a:p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 dirty="0">
                <a:solidFill>
                  <a:srgbClr val="102A43"/>
                </a:solidFill>
              </a:rPr>
              <a:t>• Never share temporary or new passwords</a:t>
            </a:r>
          </a:p>
          <a:p>
            <a:endParaRPr sz="1500" b="0" dirty="0">
              <a:solidFill>
                <a:srgbClr val="102A43"/>
              </a:solidFill>
            </a:endParaRPr>
          </a:p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 dirty="0">
                <a:solidFill>
                  <a:srgbClr val="102A43"/>
                </a:solidFill>
              </a:rPr>
              <a:t>• Contact an officer</a:t>
            </a:r>
            <a:r>
              <a:rPr lang="en-US" sz="1500" b="0" dirty="0">
                <a:solidFill>
                  <a:srgbClr val="102A43"/>
                </a:solidFill>
              </a:rPr>
              <a:t>/admin</a:t>
            </a:r>
            <a:r>
              <a:rPr sz="1500" b="0" dirty="0">
                <a:solidFill>
                  <a:srgbClr val="102A43"/>
                </a:solidFill>
              </a:rPr>
              <a:t> if the wrong profile appears</a:t>
            </a:r>
          </a:p>
        </p:txBody>
      </p:sp>
    </p:spTree>
    <p:extLst>
      <p:ext uri="{BB962C8B-B14F-4D97-AF65-F5344CB8AC3E}">
        <p14:creationId xmlns:p14="http://schemas.microsoft.com/office/powerpoint/2010/main" val="155922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60F73B9-FE7B-499A-A419-52B46931D2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85DA77-2126-434D-BD03-B9878D79164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NAVIGATION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234B0D-CE67-4CB3-877F-B2CC42C4E101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9E394C-6D37-47AE-8F7D-A7483B43F46B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292608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E59FBD-0C9A-4079-8D8E-F3D6339684DE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Choose the section before you begin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186801-44C4-4E55-9917-E0E8FC188767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The selected section controls the records and tools you see.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81DCD4C-BC47-4A17-907E-3211AD8EC932}"/>
              </a:ext>
            </a:extLst>
          </p:cNvPr>
          <p:cNvSpPr>
            <a:spLocks noGrp="1"/>
          </p:cNvSpPr>
          <p:nvPr/>
        </p:nvSpPr>
        <p:spPr>
          <a:xfrm>
            <a:off x="781050" y="2095500"/>
            <a:ext cx="2000250" cy="419100"/>
          </a:xfrm>
          <a:prstGeom prst="roundRect">
            <a:avLst>
              <a:gd name="adj" fmla="val 18182"/>
            </a:avLst>
          </a:prstGeom>
          <a:solidFill>
            <a:srgbClr val="08345F"/>
          </a:solidFill>
          <a:ln w="9525">
            <a:solidFill>
              <a:srgbClr val="08345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E6AB71-98D9-4DA5-9BAB-38A546CFD8D3}"/>
              </a:ext>
            </a:extLst>
          </p:cNvPr>
          <p:cNvSpPr>
            <a:spLocks noGrp="1"/>
          </p:cNvSpPr>
          <p:nvPr/>
        </p:nvSpPr>
        <p:spPr>
          <a:xfrm>
            <a:off x="876300" y="21907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Senior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86C322-7513-44ED-95F6-5A76FFBADF2A}"/>
              </a:ext>
            </a:extLst>
          </p:cNvPr>
          <p:cNvSpPr>
            <a:spLocks noGrp="1"/>
          </p:cNvSpPr>
          <p:nvPr/>
        </p:nvSpPr>
        <p:spPr>
          <a:xfrm>
            <a:off x="2895600" y="2095500"/>
            <a:ext cx="200025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3B5FA8-127C-43A9-9869-DB9942536F6D}"/>
              </a:ext>
            </a:extLst>
          </p:cNvPr>
          <p:cNvSpPr>
            <a:spLocks noGrp="1"/>
          </p:cNvSpPr>
          <p:nvPr/>
        </p:nvSpPr>
        <p:spPr>
          <a:xfrm>
            <a:off x="2990850" y="21907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Junior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A067A2-BECC-4BE5-BAB0-7BF953AA25BF}"/>
              </a:ext>
            </a:extLst>
          </p:cNvPr>
          <p:cNvSpPr>
            <a:spLocks noGrp="1"/>
          </p:cNvSpPr>
          <p:nvPr/>
        </p:nvSpPr>
        <p:spPr>
          <a:xfrm>
            <a:off x="800100" y="2905125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674D1"/>
                </a:solidFill>
              </a:defRPr>
            </a:pPr>
            <a:r>
              <a:rPr sz="1800" b="1">
                <a:solidFill>
                  <a:srgbClr val="1674D1"/>
                </a:solidFill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437DD6-39B8-4544-A069-13414B933351}"/>
              </a:ext>
            </a:extLst>
          </p:cNvPr>
          <p:cNvSpPr>
            <a:spLocks noGrp="1"/>
          </p:cNvSpPr>
          <p:nvPr/>
        </p:nvSpPr>
        <p:spPr>
          <a:xfrm>
            <a:off x="1333500" y="29051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Select Senior or Junior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640EDB-FA56-4A19-8FC4-1A83E28B8EC9}"/>
              </a:ext>
            </a:extLst>
          </p:cNvPr>
          <p:cNvSpPr>
            <a:spLocks noGrp="1"/>
          </p:cNvSpPr>
          <p:nvPr/>
        </p:nvSpPr>
        <p:spPr>
          <a:xfrm>
            <a:off x="800100" y="3590925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674D1"/>
                </a:solidFill>
              </a:defRPr>
            </a:pPr>
            <a:r>
              <a:rPr sz="1800" b="1">
                <a:solidFill>
                  <a:srgbClr val="1674D1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0A848E-44F8-4634-84CE-BD3048E72AF9}"/>
              </a:ext>
            </a:extLst>
          </p:cNvPr>
          <p:cNvSpPr>
            <a:spLocks noGrp="1"/>
          </p:cNvSpPr>
          <p:nvPr/>
        </p:nvSpPr>
        <p:spPr>
          <a:xfrm>
            <a:off x="1333500" y="35909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Open a work hub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A748A6-F08D-4B26-B4FD-B3979426BFA1}"/>
              </a:ext>
            </a:extLst>
          </p:cNvPr>
          <p:cNvSpPr>
            <a:spLocks noGrp="1"/>
          </p:cNvSpPr>
          <p:nvPr/>
        </p:nvSpPr>
        <p:spPr>
          <a:xfrm>
            <a:off x="800100" y="4276725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674D1"/>
                </a:solidFill>
              </a:defRPr>
            </a:pPr>
            <a:r>
              <a:rPr sz="1800" b="1">
                <a:solidFill>
                  <a:srgbClr val="1674D1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5062CD-B404-45D1-B040-2ACF50D51D55}"/>
              </a:ext>
            </a:extLst>
          </p:cNvPr>
          <p:cNvSpPr>
            <a:spLocks noGrp="1"/>
          </p:cNvSpPr>
          <p:nvPr/>
        </p:nvSpPr>
        <p:spPr>
          <a:xfrm>
            <a:off x="1333500" y="427672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Choose the page from the top tabs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BE03C8A-FF4C-4915-8E8A-F2DEEEBA3511}"/>
              </a:ext>
            </a:extLst>
          </p:cNvPr>
          <p:cNvSpPr>
            <a:spLocks noGrp="1"/>
          </p:cNvSpPr>
          <p:nvPr/>
        </p:nvSpPr>
        <p:spPr>
          <a:xfrm>
            <a:off x="6553200" y="2076450"/>
            <a:ext cx="4457700" cy="3105150"/>
          </a:xfrm>
          <a:prstGeom prst="roundRect">
            <a:avLst>
              <a:gd name="adj" fmla="val 3681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AC2669-D496-4BEA-AF53-38678A4027C8}"/>
              </a:ext>
            </a:extLst>
          </p:cNvPr>
          <p:cNvSpPr>
            <a:spLocks noGrp="1"/>
          </p:cNvSpPr>
          <p:nvPr/>
        </p:nvSpPr>
        <p:spPr>
          <a:xfrm>
            <a:off x="6858000" y="23431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345F"/>
                </a:solidFill>
              </a:defRPr>
            </a:pPr>
            <a:r>
              <a:rPr sz="1500" b="1">
                <a:solidFill>
                  <a:srgbClr val="08345F"/>
                </a:solidFill>
              </a:rPr>
              <a:t>Desktop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D94B20-531F-4BA4-996D-DDB758A21BCB}"/>
              </a:ext>
            </a:extLst>
          </p:cNvPr>
          <p:cNvSpPr>
            <a:spLocks noGrp="1"/>
          </p:cNvSpPr>
          <p:nvPr/>
        </p:nvSpPr>
        <p:spPr>
          <a:xfrm>
            <a:off x="6858000" y="2686050"/>
            <a:ext cx="3429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Use the left sidebar and contextual tabs.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BE6400-D5B9-4D91-86D3-6809DD9280AA}"/>
              </a:ext>
            </a:extLst>
          </p:cNvPr>
          <p:cNvSpPr>
            <a:spLocks noGrp="1"/>
          </p:cNvSpPr>
          <p:nvPr/>
        </p:nvSpPr>
        <p:spPr>
          <a:xfrm>
            <a:off x="6858000" y="35433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8345F"/>
                </a:solidFill>
              </a:defRPr>
            </a:pPr>
            <a:r>
              <a:rPr sz="1500" b="1">
                <a:solidFill>
                  <a:srgbClr val="08345F"/>
                </a:solidFill>
              </a:rPr>
              <a:t>Mobile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D5798E-BDCE-4F86-8772-74B4BC37C90F}"/>
              </a:ext>
            </a:extLst>
          </p:cNvPr>
          <p:cNvSpPr>
            <a:spLocks noGrp="1"/>
          </p:cNvSpPr>
          <p:nvPr/>
        </p:nvSpPr>
        <p:spPr>
          <a:xfrm>
            <a:off x="6858000" y="3886200"/>
            <a:ext cx="3429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Use the five bottom buttons. Open More for secondary tools.</a:t>
            </a:r>
          </a:p>
        </p:txBody>
      </p:sp>
    </p:spTree>
    <p:extLst>
      <p:ext uri="{BB962C8B-B14F-4D97-AF65-F5344CB8AC3E}">
        <p14:creationId xmlns:p14="http://schemas.microsoft.com/office/powerpoint/2010/main" val="18008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A347F4C-8B8C-4578-8A89-B3116650AD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CAD821-6542-4F6A-A58A-D3C4DC5F653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HOME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A8E599-8927-4235-A361-E6E3EBC256C0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CECFA3-2A23-48CB-8847-9BC02E1B95A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365760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FE1E02-2752-4480-8C10-65EE39AEA043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Home shows what needs your attention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ECF3CE-F7AA-47A3-800F-2536D46138DD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Counts and tasks update automatically after work is completed.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rcRect l="5152" r="5152"/>
          <a:stretch>
            <a:fillRect/>
          </a:stretch>
        </p:blipFill>
        <p:spPr>
          <a:xfrm>
            <a:off x="609600" y="2000250"/>
            <a:ext cx="657225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71B2BD0-ABBC-448A-A91F-044094D6E27E}"/>
              </a:ext>
            </a:extLst>
          </p:cNvPr>
          <p:cNvSpPr>
            <a:spLocks noGrp="1"/>
          </p:cNvSpPr>
          <p:nvPr/>
        </p:nvSpPr>
        <p:spPr>
          <a:xfrm>
            <a:off x="7715250" y="21145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Use Home to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AC3CE1-E67D-40BD-AD9D-21CBC1C0981F}"/>
              </a:ext>
            </a:extLst>
          </p:cNvPr>
          <p:cNvSpPr>
            <a:spLocks noGrp="1"/>
          </p:cNvSpPr>
          <p:nvPr/>
        </p:nvSpPr>
        <p:spPr>
          <a:xfrm>
            <a:off x="7715250" y="2647950"/>
            <a:ext cx="323850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Open urgent tasks</a:t>
            </a:r>
          </a:p>
          <a:p>
            <a:endParaRPr sz="1500" b="0">
              <a:solidFill>
                <a:srgbClr val="102A43"/>
              </a:solidFill>
            </a:endParaRPr>
          </a:p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Read notifications</a:t>
            </a:r>
          </a:p>
          <a:p>
            <a:endParaRPr sz="1500" b="0">
              <a:solidFill>
                <a:srgbClr val="102A43"/>
              </a:solidFill>
            </a:endParaRPr>
          </a:p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Jump to common actions</a:t>
            </a:r>
          </a:p>
          <a:p>
            <a:endParaRPr sz="1500" b="0">
              <a:solidFill>
                <a:srgbClr val="102A43"/>
              </a:solidFill>
            </a:endParaRPr>
          </a:p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• Open resources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72A8B-F02E-4193-A964-8AF26523E8EE}"/>
              </a:ext>
            </a:extLst>
          </p:cNvPr>
          <p:cNvSpPr>
            <a:spLocks noGrp="1"/>
          </p:cNvSpPr>
          <p:nvPr/>
        </p:nvSpPr>
        <p:spPr>
          <a:xfrm>
            <a:off x="7715250" y="5143500"/>
            <a:ext cx="323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Tip: a task disappears when the underlying work is completed.</a:t>
            </a:r>
          </a:p>
        </p:txBody>
      </p:sp>
    </p:spTree>
    <p:extLst>
      <p:ext uri="{BB962C8B-B14F-4D97-AF65-F5344CB8AC3E}">
        <p14:creationId xmlns:p14="http://schemas.microsoft.com/office/powerpoint/2010/main" val="849907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D8A3030-B0F9-4499-BE2E-5869E6D706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E82219-BCAA-45D3-B694-7EF4FF8F623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MEMBERS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23FDD4-7C28-4A8C-B88E-FC60BDAE838E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2D6AC2-DA06-413B-B2FF-CAE38C6E7A04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438912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E53850-F744-4DD6-868B-D4C5F3F523F2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Members can track progress without changing official records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EA162-5B62-4372-B131-FCCA51C53504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Your account only shows your own data and permitted resources.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EBEBFB-4DE8-4224-9F99-7B111AA619AE}"/>
              </a:ext>
            </a:extLst>
          </p:cNvPr>
          <p:cNvSpPr>
            <a:spLocks noGrp="1"/>
          </p:cNvSpPr>
          <p:nvPr/>
        </p:nvSpPr>
        <p:spPr>
          <a:xfrm>
            <a:off x="800100" y="20955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674D1"/>
                </a:solidFill>
              </a:defRPr>
            </a:pPr>
            <a:r>
              <a:rPr sz="1275" b="1">
                <a:solidFill>
                  <a:srgbClr val="1674D1"/>
                </a:solidFill>
              </a:rPr>
              <a:t>MY PROGRESS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95181B-7D4B-4D2C-BF52-B26266172DAB}"/>
              </a:ext>
            </a:extLst>
          </p:cNvPr>
          <p:cNvSpPr>
            <a:spLocks noGrp="1"/>
          </p:cNvSpPr>
          <p:nvPr/>
        </p:nvSpPr>
        <p:spPr>
          <a:xfrm>
            <a:off x="3028950" y="2095500"/>
            <a:ext cx="666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Attendance percentage and award status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85CA6DFD-4865-463E-B824-9B322D7B2FE5}"/>
              </a:ext>
            </a:extLst>
          </p:cNvPr>
          <p:cNvSpPr>
            <a:spLocks noGrp="1"/>
          </p:cNvSpPr>
          <p:nvPr/>
        </p:nvSpPr>
        <p:spPr>
          <a:xfrm>
            <a:off x="800100" y="2628900"/>
            <a:ext cx="9906000" cy="0"/>
          </a:xfrm>
          <a:prstGeom prst="line">
            <a:avLst/>
          </a:prstGeom>
          <a:ln w="9525">
            <a:solidFill>
              <a:srgbClr val="D8E3EE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107E50-4C2F-4A06-B095-85DCEF86E422}"/>
              </a:ext>
            </a:extLst>
          </p:cNvPr>
          <p:cNvSpPr>
            <a:spLocks noGrp="1"/>
          </p:cNvSpPr>
          <p:nvPr/>
        </p:nvSpPr>
        <p:spPr>
          <a:xfrm>
            <a:off x="800100" y="29146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674D1"/>
                </a:solidFill>
              </a:defRPr>
            </a:pPr>
            <a:r>
              <a:rPr sz="1275" b="1">
                <a:solidFill>
                  <a:srgbClr val="1674D1"/>
                </a:solidFill>
              </a:rPr>
              <a:t>MY REQUESTS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2B72F5-BEBB-4050-9C75-7D0106BEFF9D}"/>
              </a:ext>
            </a:extLst>
          </p:cNvPr>
          <p:cNvSpPr>
            <a:spLocks noGrp="1"/>
          </p:cNvSpPr>
          <p:nvPr/>
        </p:nvSpPr>
        <p:spPr>
          <a:xfrm>
            <a:off x="3028950" y="2914650"/>
            <a:ext cx="666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Award applications and uniform requests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74B28771-2182-46D6-9E70-7A02E6FB0F32}"/>
              </a:ext>
            </a:extLst>
          </p:cNvPr>
          <p:cNvSpPr>
            <a:spLocks noGrp="1"/>
          </p:cNvSpPr>
          <p:nvPr/>
        </p:nvSpPr>
        <p:spPr>
          <a:xfrm>
            <a:off x="800100" y="3448050"/>
            <a:ext cx="9906000" cy="0"/>
          </a:xfrm>
          <a:prstGeom prst="line">
            <a:avLst/>
          </a:prstGeom>
          <a:ln w="9525">
            <a:solidFill>
              <a:srgbClr val="D8E3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1A74AD-FC78-423A-AF54-309C7378EBEC}"/>
              </a:ext>
            </a:extLst>
          </p:cNvPr>
          <p:cNvSpPr>
            <a:spLocks noGrp="1"/>
          </p:cNvSpPr>
          <p:nvPr/>
        </p:nvSpPr>
        <p:spPr>
          <a:xfrm>
            <a:off x="800100" y="37338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674D1"/>
                </a:solidFill>
              </a:defRPr>
            </a:pPr>
            <a:r>
              <a:rPr sz="1275" b="1">
                <a:solidFill>
                  <a:srgbClr val="1674D1"/>
                </a:solidFill>
              </a:rPr>
              <a:t>MY ITEMS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14750F-79E2-49B3-BC21-D3D204F8E99D}"/>
              </a:ext>
            </a:extLst>
          </p:cNvPr>
          <p:cNvSpPr>
            <a:spLocks noGrp="1"/>
          </p:cNvSpPr>
          <p:nvPr/>
        </p:nvSpPr>
        <p:spPr>
          <a:xfrm>
            <a:off x="3028950" y="3733800"/>
            <a:ext cx="666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Uniforms and awards issued to you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5DBBB5B0-D79F-4B03-ADBA-4305FAC67836}"/>
              </a:ext>
            </a:extLst>
          </p:cNvPr>
          <p:cNvSpPr>
            <a:spLocks noGrp="1"/>
          </p:cNvSpPr>
          <p:nvPr/>
        </p:nvSpPr>
        <p:spPr>
          <a:xfrm>
            <a:off x="800100" y="4267200"/>
            <a:ext cx="9906000" cy="0"/>
          </a:xfrm>
          <a:prstGeom prst="line">
            <a:avLst/>
          </a:prstGeom>
          <a:ln w="9525">
            <a:solidFill>
              <a:srgbClr val="D8E3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36C597-67A5-4088-8D9D-C3B64ADA2109}"/>
              </a:ext>
            </a:extLst>
          </p:cNvPr>
          <p:cNvSpPr>
            <a:spLocks noGrp="1"/>
          </p:cNvSpPr>
          <p:nvPr/>
        </p:nvSpPr>
        <p:spPr>
          <a:xfrm>
            <a:off x="800100" y="45529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674D1"/>
                </a:solidFill>
              </a:defRPr>
            </a:pPr>
            <a:r>
              <a:rPr sz="1275" b="1">
                <a:solidFill>
                  <a:srgbClr val="1674D1"/>
                </a:solidFill>
              </a:rPr>
              <a:t>RESOURCES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C4CC71-50A6-4885-BE18-D4A49DE91C35}"/>
              </a:ext>
            </a:extLst>
          </p:cNvPr>
          <p:cNvSpPr>
            <a:spLocks noGrp="1"/>
          </p:cNvSpPr>
          <p:nvPr/>
        </p:nvSpPr>
        <p:spPr>
          <a:xfrm>
            <a:off x="3028950" y="4552950"/>
            <a:ext cx="666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Documents available to your role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674F7A16-BC08-43B1-B8B2-A4F44FA058FB}"/>
              </a:ext>
            </a:extLst>
          </p:cNvPr>
          <p:cNvSpPr>
            <a:spLocks noGrp="1"/>
          </p:cNvSpPr>
          <p:nvPr/>
        </p:nvSpPr>
        <p:spPr>
          <a:xfrm>
            <a:off x="800100" y="5086350"/>
            <a:ext cx="9906000" cy="0"/>
          </a:xfrm>
          <a:prstGeom prst="line">
            <a:avLst/>
          </a:prstGeom>
          <a:ln w="9525">
            <a:solidFill>
              <a:srgbClr val="D8E3EE"/>
            </a:solidFill>
            <a:prstDash val="solid"/>
          </a:ln>
        </p:spPr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E4DE4E8-CE56-4333-BE6C-9F308EC25669}"/>
              </a:ext>
            </a:extLst>
          </p:cNvPr>
          <p:cNvSpPr>
            <a:spLocks noGrp="1"/>
          </p:cNvSpPr>
          <p:nvPr/>
        </p:nvSpPr>
        <p:spPr>
          <a:xfrm>
            <a:off x="8001000" y="5219700"/>
            <a:ext cx="2857500" cy="514350"/>
          </a:xfrm>
          <a:prstGeom prst="roundRect">
            <a:avLst>
              <a:gd name="adj" fmla="val 22222"/>
            </a:avLst>
          </a:prstGeom>
          <a:solidFill>
            <a:srgbClr val="E9F7E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26059D-6986-4697-AA27-EFF4B072D99A}"/>
              </a:ext>
            </a:extLst>
          </p:cNvPr>
          <p:cNvSpPr>
            <a:spLocks noGrp="1"/>
          </p:cNvSpPr>
          <p:nvPr/>
        </p:nvSpPr>
        <p:spPr>
          <a:xfrm>
            <a:off x="8191500" y="53530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198754"/>
                </a:solidFill>
              </a:defRPr>
            </a:pPr>
            <a:r>
              <a:rPr sz="1275" b="1">
                <a:solidFill>
                  <a:srgbClr val="198754"/>
                </a:solidFill>
              </a:rPr>
              <a:t>Official records are read-only</a:t>
            </a:r>
          </a:p>
        </p:txBody>
      </p:sp>
    </p:spTree>
    <p:extLst>
      <p:ext uri="{BB962C8B-B14F-4D97-AF65-F5344CB8AC3E}">
        <p14:creationId xmlns:p14="http://schemas.microsoft.com/office/powerpoint/2010/main" val="2102478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9F86522-460B-4FC0-B8BF-26C6EEE229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E8E04A-D541-4A04-80B3-ABD96260A65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NCO &amp; SQUAD LEADER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3A26F0-3034-402C-8E5D-574DBFBE1601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0D3FC3-BFCC-4D35-8FC2-D445D4304288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12064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A5A729-BE89-47C8-9D62-38B302D2556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Squad staff work within their assigned squad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ACFC2E-2A98-4C6D-A784-B1457BE391AD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The server blocks cross-squad access even if someone changes the URL.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D359B83-F601-47A5-9C9C-9B8B64680F03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2286000" cy="552450"/>
          </a:xfrm>
          <a:prstGeom prst="roundRect">
            <a:avLst>
              <a:gd name="adj" fmla="val 13793"/>
            </a:avLst>
          </a:prstGeom>
          <a:solidFill>
            <a:srgbClr val="1674D1"/>
          </a:solidFill>
          <a:ln w="0">
            <a:solidFill>
              <a:srgbClr val="1674D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6B50A9-7F5C-47F6-98D2-EED4747C66FC}"/>
              </a:ext>
            </a:extLst>
          </p:cNvPr>
          <p:cNvSpPr>
            <a:spLocks noGrp="1"/>
          </p:cNvSpPr>
          <p:nvPr/>
        </p:nvSpPr>
        <p:spPr>
          <a:xfrm>
            <a:off x="990600" y="2219325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Members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924E2E-E898-4361-B10B-410DF93AF445}"/>
              </a:ext>
            </a:extLst>
          </p:cNvPr>
          <p:cNvSpPr>
            <a:spLocks noGrp="1"/>
          </p:cNvSpPr>
          <p:nvPr/>
        </p:nvSpPr>
        <p:spPr>
          <a:xfrm>
            <a:off x="3524250" y="2162175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View and update the full details of assigned squad members.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DBE18C2-FDEC-4629-9865-7F82DCF4F8B2}"/>
              </a:ext>
            </a:extLst>
          </p:cNvPr>
          <p:cNvSpPr>
            <a:spLocks noGrp="1"/>
          </p:cNvSpPr>
          <p:nvPr/>
        </p:nvSpPr>
        <p:spPr>
          <a:xfrm>
            <a:off x="3143250" y="2371725"/>
            <a:ext cx="266700" cy="0"/>
          </a:xfrm>
          <a:prstGeom prst="line">
            <a:avLst/>
          </a:prstGeom>
          <a:ln w="19050">
            <a:solidFill>
              <a:srgbClr val="D8E3EE"/>
            </a:solidFill>
            <a:prstDash val="solid"/>
          </a:ln>
        </p:spPr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AF4C454-3BDB-434D-B4CC-88A4927A02A8}"/>
              </a:ext>
            </a:extLst>
          </p:cNvPr>
          <p:cNvSpPr>
            <a:spLocks noGrp="1"/>
          </p:cNvSpPr>
          <p:nvPr/>
        </p:nvSpPr>
        <p:spPr>
          <a:xfrm>
            <a:off x="838200" y="2895600"/>
            <a:ext cx="2286000" cy="552450"/>
          </a:xfrm>
          <a:prstGeom prst="roundRect">
            <a:avLst>
              <a:gd name="adj" fmla="val 13793"/>
            </a:avLst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E74AF88-19A4-4120-8B1C-2BCCF6FD9228}"/>
              </a:ext>
            </a:extLst>
          </p:cNvPr>
          <p:cNvSpPr>
            <a:spLocks noGrp="1"/>
          </p:cNvSpPr>
          <p:nvPr/>
        </p:nvSpPr>
        <p:spPr>
          <a:xfrm>
            <a:off x="990600" y="3019425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Attendance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39B78-7B59-47DC-B8D2-7E4845136386}"/>
              </a:ext>
            </a:extLst>
          </p:cNvPr>
          <p:cNvSpPr>
            <a:spLocks noGrp="1"/>
          </p:cNvSpPr>
          <p:nvPr/>
        </p:nvSpPr>
        <p:spPr>
          <a:xfrm>
            <a:off x="3524250" y="2962275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Take and correct attendance for the assigned squad.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193B2697-C855-49C1-B02F-289B0A9A22FA}"/>
              </a:ext>
            </a:extLst>
          </p:cNvPr>
          <p:cNvSpPr>
            <a:spLocks noGrp="1"/>
          </p:cNvSpPr>
          <p:nvPr/>
        </p:nvSpPr>
        <p:spPr>
          <a:xfrm>
            <a:off x="3143250" y="3171825"/>
            <a:ext cx="266700" cy="0"/>
          </a:xfrm>
          <a:prstGeom prst="line">
            <a:avLst/>
          </a:prstGeom>
          <a:ln w="19050">
            <a:solidFill>
              <a:srgbClr val="D8E3EE"/>
            </a:solidFill>
            <a:prstDash val="solid"/>
          </a:ln>
        </p:spPr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C9AD2A8-6FF4-4829-9DB8-76D27C783ED1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2286000" cy="552450"/>
          </a:xfrm>
          <a:prstGeom prst="roundRect">
            <a:avLst>
              <a:gd name="adj" fmla="val 13793"/>
            </a:avLst>
          </a:prstGeom>
          <a:solidFill>
            <a:srgbClr val="426B8F"/>
          </a:solidFill>
          <a:ln w="0">
            <a:solidFill>
              <a:srgbClr val="426B8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59B912-BDF8-415B-93E1-CA09E356D1ED}"/>
              </a:ext>
            </a:extLst>
          </p:cNvPr>
          <p:cNvSpPr>
            <a:spLocks noGrp="1"/>
          </p:cNvSpPr>
          <p:nvPr/>
        </p:nvSpPr>
        <p:spPr>
          <a:xfrm>
            <a:off x="990600" y="3819525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Awards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BDE43F-F001-4F00-8989-F4916B4480C0}"/>
              </a:ext>
            </a:extLst>
          </p:cNvPr>
          <p:cNvSpPr>
            <a:spLocks noGrp="1"/>
          </p:cNvSpPr>
          <p:nvPr/>
        </p:nvSpPr>
        <p:spPr>
          <a:xfrm>
            <a:off x="3524250" y="3762375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View member awards and submit personal applications; no award editing.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3CC1142E-296F-427A-BF40-3988150449C8}"/>
              </a:ext>
            </a:extLst>
          </p:cNvPr>
          <p:cNvSpPr>
            <a:spLocks noGrp="1"/>
          </p:cNvSpPr>
          <p:nvPr/>
        </p:nvSpPr>
        <p:spPr>
          <a:xfrm>
            <a:off x="3143250" y="3971925"/>
            <a:ext cx="266700" cy="0"/>
          </a:xfrm>
          <a:prstGeom prst="line">
            <a:avLst/>
          </a:prstGeom>
          <a:ln w="19050">
            <a:solidFill>
              <a:srgbClr val="D8E3EE"/>
            </a:solidFill>
            <a:prstDash val="solid"/>
          </a:ln>
        </p:spPr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16FD5C7-B17F-4206-A08B-725230CBA00F}"/>
              </a:ext>
            </a:extLst>
          </p:cNvPr>
          <p:cNvSpPr>
            <a:spLocks noGrp="1"/>
          </p:cNvSpPr>
          <p:nvPr/>
        </p:nvSpPr>
        <p:spPr>
          <a:xfrm>
            <a:off x="838200" y="4495800"/>
            <a:ext cx="2286000" cy="552450"/>
          </a:xfrm>
          <a:prstGeom prst="roundRect">
            <a:avLst>
              <a:gd name="adj" fmla="val 13793"/>
            </a:avLst>
          </a:prstGeom>
          <a:solidFill>
            <a:srgbClr val="7B91A5"/>
          </a:solidFill>
          <a:ln w="0">
            <a:solidFill>
              <a:srgbClr val="7B91A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2FFA2E-C733-4582-9621-A2EBD13550D1}"/>
              </a:ext>
            </a:extLst>
          </p:cNvPr>
          <p:cNvSpPr>
            <a:spLocks noGrp="1"/>
          </p:cNvSpPr>
          <p:nvPr/>
        </p:nvSpPr>
        <p:spPr>
          <a:xfrm>
            <a:off x="990600" y="4619625"/>
            <a:ext cx="1981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Approvals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D5688A-1C3B-4E44-A087-6713326D8DEF}"/>
              </a:ext>
            </a:extLst>
          </p:cNvPr>
          <p:cNvSpPr>
            <a:spLocks noGrp="1"/>
          </p:cNvSpPr>
          <p:nvPr/>
        </p:nvSpPr>
        <p:spPr>
          <a:xfrm>
            <a:off x="3524250" y="4562475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Review permitted squad work; final decisions stay with officers/admins.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81923A32-7B5E-4494-A0D6-F7ABD1659162}"/>
              </a:ext>
            </a:extLst>
          </p:cNvPr>
          <p:cNvSpPr>
            <a:spLocks noGrp="1"/>
          </p:cNvSpPr>
          <p:nvPr/>
        </p:nvSpPr>
        <p:spPr>
          <a:xfrm>
            <a:off x="3143250" y="4772025"/>
            <a:ext cx="266700" cy="0"/>
          </a:xfrm>
          <a:prstGeom prst="line">
            <a:avLst/>
          </a:prstGeom>
          <a:ln w="19050">
            <a:solidFill>
              <a:srgbClr val="D8E3E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23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EC0B50D-83CC-4E1E-BBB3-265CAA0D9D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92BBAB-8ADC-45AC-8168-1563C2532AE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ATTENDANCE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00F740-A700-412E-8F67-CE9E3058B0B0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73EBBF-A4B2-4AC6-B45B-FB8E4B1E634B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585216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B37325-91F8-411B-8A03-096263E284A7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Complete each register in one clear pass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D4136B-7953-480F-A1D2-030FD65989C3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Future meetings never reduce a member’s attendance percentage.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DE00C8F-66A7-4C96-B348-00440C7D9BF6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514350" cy="514350"/>
          </a:xfrm>
          <a:prstGeom prst="ellipse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7206EC-202E-4CBA-B5E7-B15202AB76F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FDC80D-CC60-44B7-97A4-50ECE872192B}"/>
              </a:ext>
            </a:extLst>
          </p:cNvPr>
          <p:cNvSpPr>
            <a:spLocks noGrp="1"/>
          </p:cNvSpPr>
          <p:nvPr/>
        </p:nvSpPr>
        <p:spPr>
          <a:xfrm>
            <a:off x="1371600" y="2038350"/>
            <a:ext cx="426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Select the meeting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A31579-C6DD-4CC6-A687-E1C2B301C376}"/>
              </a:ext>
            </a:extLst>
          </p:cNvPr>
          <p:cNvSpPr>
            <a:spLocks noGrp="1"/>
          </p:cNvSpPr>
          <p:nvPr/>
        </p:nvSpPr>
        <p:spPr>
          <a:xfrm>
            <a:off x="1371600" y="2362200"/>
            <a:ext cx="4267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The nearest applicable meeting is selected automatically.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8D589F5-A76E-4368-A5AC-76EEBE8C37D8}"/>
              </a:ext>
            </a:extLst>
          </p:cNvPr>
          <p:cNvSpPr>
            <a:spLocks noGrp="1"/>
          </p:cNvSpPr>
          <p:nvPr/>
        </p:nvSpPr>
        <p:spPr>
          <a:xfrm>
            <a:off x="685800" y="3257550"/>
            <a:ext cx="514350" cy="514350"/>
          </a:xfrm>
          <a:prstGeom prst="ellipse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7463C5-16D9-46C4-BC44-0EE1F15683D6}"/>
              </a:ext>
            </a:extLst>
          </p:cNvPr>
          <p:cNvSpPr>
            <a:spLocks noGrp="1"/>
          </p:cNvSpPr>
          <p:nvPr/>
        </p:nvSpPr>
        <p:spPr>
          <a:xfrm>
            <a:off x="685800" y="33528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27D82C-5484-4D60-82C4-CFA4B5E15D04}"/>
              </a:ext>
            </a:extLst>
          </p:cNvPr>
          <p:cNvSpPr>
            <a:spLocks noGrp="1"/>
          </p:cNvSpPr>
          <p:nvPr/>
        </p:nvSpPr>
        <p:spPr>
          <a:xfrm>
            <a:off x="1371600" y="3257550"/>
            <a:ext cx="426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Filter and mark members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24088C-4975-4930-AD7D-47E6B04310EF}"/>
              </a:ext>
            </a:extLst>
          </p:cNvPr>
          <p:cNvSpPr>
            <a:spLocks noGrp="1"/>
          </p:cNvSpPr>
          <p:nvPr/>
        </p:nvSpPr>
        <p:spPr>
          <a:xfrm>
            <a:off x="1371600" y="3581400"/>
            <a:ext cx="4267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Use squad search, Mark all present, or individual status buttons.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ED1813F-FBB1-48DC-8546-238F7A622C22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514350" cy="514350"/>
          </a:xfrm>
          <a:prstGeom prst="ellipse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8BC960-F4BE-4918-A021-44750C3FD1B5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D4A280-994D-443F-9FE9-8E8C29212D95}"/>
              </a:ext>
            </a:extLst>
          </p:cNvPr>
          <p:cNvSpPr>
            <a:spLocks noGrp="1"/>
          </p:cNvSpPr>
          <p:nvPr/>
        </p:nvSpPr>
        <p:spPr>
          <a:xfrm>
            <a:off x="1371600" y="4476750"/>
            <a:ext cx="426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Check the summary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A0DADE-67FA-40E0-A469-83AB3C7ED32B}"/>
              </a:ext>
            </a:extLst>
          </p:cNvPr>
          <p:cNvSpPr>
            <a:spLocks noGrp="1"/>
          </p:cNvSpPr>
          <p:nvPr/>
        </p:nvSpPr>
        <p:spPr>
          <a:xfrm>
            <a:off x="1371600" y="4800600"/>
            <a:ext cx="4267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Green means complete; yellow means missing or incomplete details.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D19F99F-6F8A-4D6B-8C4E-0F4BA51D81C6}"/>
              </a:ext>
            </a:extLst>
          </p:cNvPr>
          <p:cNvSpPr>
            <a:spLocks noGrp="1"/>
          </p:cNvSpPr>
          <p:nvPr/>
        </p:nvSpPr>
        <p:spPr>
          <a:xfrm>
            <a:off x="6591300" y="2076450"/>
            <a:ext cx="4362450" cy="30480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0BCE9F-20D8-4939-B13E-6FB495A8BDAC}"/>
              </a:ext>
            </a:extLst>
          </p:cNvPr>
          <p:cNvSpPr>
            <a:spLocks noGrp="1"/>
          </p:cNvSpPr>
          <p:nvPr/>
        </p:nvSpPr>
        <p:spPr>
          <a:xfrm>
            <a:off x="6934200" y="2381250"/>
            <a:ext cx="3238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8345F"/>
                </a:solidFill>
              </a:defRPr>
            </a:pPr>
            <a:r>
              <a:rPr sz="1725" b="1">
                <a:solidFill>
                  <a:srgbClr val="08345F"/>
                </a:solidFill>
              </a:rPr>
              <a:t>Attendance status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CB4F501-0CAF-49EC-A22E-C582D59FE047}"/>
              </a:ext>
            </a:extLst>
          </p:cNvPr>
          <p:cNvSpPr>
            <a:spLocks noGrp="1"/>
          </p:cNvSpPr>
          <p:nvPr/>
        </p:nvSpPr>
        <p:spPr>
          <a:xfrm>
            <a:off x="6953250" y="3009900"/>
            <a:ext cx="1619250" cy="609600"/>
          </a:xfrm>
          <a:prstGeom prst="roundRect">
            <a:avLst>
              <a:gd name="adj" fmla="val 12500"/>
            </a:avLst>
          </a:prstGeom>
          <a:solidFill>
            <a:srgbClr val="E7F6EE"/>
          </a:solidFill>
          <a:ln w="9525">
            <a:solidFill>
              <a:srgbClr val="A7DCC1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74A37A-29F0-4680-A341-6602C7CD86A1}"/>
              </a:ext>
            </a:extLst>
          </p:cNvPr>
          <p:cNvSpPr>
            <a:spLocks noGrp="1"/>
          </p:cNvSpPr>
          <p:nvPr/>
        </p:nvSpPr>
        <p:spPr>
          <a:xfrm>
            <a:off x="7124700" y="31813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98754"/>
                </a:solidFill>
              </a:defRPr>
            </a:pPr>
            <a:r>
              <a:rPr sz="1350" b="1">
                <a:solidFill>
                  <a:srgbClr val="198754"/>
                </a:solidFill>
              </a:rPr>
              <a:t>GREEN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123E96B-3FF5-4221-AAB2-C9C7786E46A0}"/>
              </a:ext>
            </a:extLst>
          </p:cNvPr>
          <p:cNvSpPr>
            <a:spLocks noGrp="1"/>
          </p:cNvSpPr>
          <p:nvPr/>
        </p:nvSpPr>
        <p:spPr>
          <a:xfrm>
            <a:off x="8839200" y="3009900"/>
            <a:ext cx="1619250" cy="609600"/>
          </a:xfrm>
          <a:prstGeom prst="roundRect">
            <a:avLst>
              <a:gd name="adj" fmla="val 12500"/>
            </a:avLst>
          </a:prstGeom>
          <a:solidFill>
            <a:srgbClr val="FFF7D8"/>
          </a:solidFill>
          <a:ln w="9525">
            <a:solidFill>
              <a:srgbClr val="E9CE7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FAD840-1CA7-48F7-A9BD-810482449459}"/>
              </a:ext>
            </a:extLst>
          </p:cNvPr>
          <p:cNvSpPr>
            <a:spLocks noGrp="1"/>
          </p:cNvSpPr>
          <p:nvPr/>
        </p:nvSpPr>
        <p:spPr>
          <a:xfrm>
            <a:off x="9010650" y="31813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66800"/>
                </a:solidFill>
              </a:defRPr>
            </a:pPr>
            <a:r>
              <a:rPr sz="1350" b="1">
                <a:solidFill>
                  <a:srgbClr val="966800"/>
                </a:solidFill>
              </a:rPr>
              <a:t>YELLOW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E51FF4-3B04-4B54-BDAC-5FF7FBA460F5}"/>
              </a:ext>
            </a:extLst>
          </p:cNvPr>
          <p:cNvSpPr>
            <a:spLocks noGrp="1"/>
          </p:cNvSpPr>
          <p:nvPr/>
        </p:nvSpPr>
        <p:spPr>
          <a:xfrm>
            <a:off x="7105650" y="38290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64748B"/>
                </a:solidFill>
              </a:defRPr>
            </a:pPr>
            <a:r>
              <a:rPr sz="1275" b="1">
                <a:solidFill>
                  <a:srgbClr val="64748B"/>
                </a:solidFill>
              </a:rPr>
              <a:t>Completed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78F166-0F3D-4E53-9C8A-ABC3353BD5C5}"/>
              </a:ext>
            </a:extLst>
          </p:cNvPr>
          <p:cNvSpPr>
            <a:spLocks noGrp="1"/>
          </p:cNvSpPr>
          <p:nvPr/>
        </p:nvSpPr>
        <p:spPr>
          <a:xfrm>
            <a:off x="8934450" y="38290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64748B"/>
                </a:solidFill>
              </a:defRPr>
            </a:pPr>
            <a:r>
              <a:rPr sz="1275" b="1">
                <a:solidFill>
                  <a:srgbClr val="64748B"/>
                </a:solidFill>
              </a:rPr>
              <a:t>Needs attention</a:t>
            </a:r>
          </a:p>
        </p:txBody>
      </p:sp>
    </p:spTree>
    <p:extLst>
      <p:ext uri="{BB962C8B-B14F-4D97-AF65-F5344CB8AC3E}">
        <p14:creationId xmlns:p14="http://schemas.microsoft.com/office/powerpoint/2010/main" val="124078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E495FB7-0B16-44A4-967F-078DCD4041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4780B9-CE7C-41A0-B58F-42CBC920EE6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AWARDS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59D2C2-FEA4-4435-88A4-65939567971B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8008AA-6FAD-4AA6-B638-004AF9BBC85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58368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E7A5A8-2CFA-473A-A3E1-F1EBF52C9288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Every award follows a visible review trail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616D48-8F17-4856-BEBE-17C1AF4B108E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A submission starts In progress and updates the member’s matrix after a decision.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7797331-449C-46CC-AF84-A21EF954986A}"/>
              </a:ext>
            </a:extLst>
          </p:cNvPr>
          <p:cNvSpPr>
            <a:spLocks noGrp="1"/>
          </p:cNvSpPr>
          <p:nvPr/>
        </p:nvSpPr>
        <p:spPr>
          <a:xfrm>
            <a:off x="800100" y="2362200"/>
            <a:ext cx="20383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0676F2-66F4-423E-BE12-F59889AAA7C6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674D1"/>
                </a:solidFill>
              </a:defRPr>
            </a:pPr>
            <a:r>
              <a:rPr sz="1650" b="1">
                <a:solidFill>
                  <a:srgbClr val="1674D1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96B626-CAAF-4F78-9FCF-51F4CDDF2616}"/>
              </a:ext>
            </a:extLst>
          </p:cNvPr>
          <p:cNvSpPr>
            <a:spLocks noGrp="1"/>
          </p:cNvSpPr>
          <p:nvPr/>
        </p:nvSpPr>
        <p:spPr>
          <a:xfrm>
            <a:off x="990600" y="304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8345F"/>
                </a:solidFill>
              </a:defRPr>
            </a:pPr>
            <a:r>
              <a:rPr sz="1575" b="1">
                <a:solidFill>
                  <a:srgbClr val="08345F"/>
                </a:solidFill>
              </a:rPr>
              <a:t>SUBMIT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75E490-16D7-4A7E-BD59-123655025F20}"/>
              </a:ext>
            </a:extLst>
          </p:cNvPr>
          <p:cNvSpPr>
            <a:spLocks noGrp="1"/>
          </p:cNvSpPr>
          <p:nvPr/>
        </p:nvSpPr>
        <p:spPr>
          <a:xfrm>
            <a:off x="990600" y="3429000"/>
            <a:ext cx="1657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Member or NCO applies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BA4B80-0BA4-4B05-BE48-015B6F77B614}"/>
              </a:ext>
            </a:extLst>
          </p:cNvPr>
          <p:cNvSpPr>
            <a:spLocks noGrp="1"/>
          </p:cNvSpPr>
          <p:nvPr/>
        </p:nvSpPr>
        <p:spPr>
          <a:xfrm>
            <a:off x="2895600" y="304800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2B928"/>
                </a:solidFill>
              </a:defRPr>
            </a:pPr>
            <a:r>
              <a:rPr sz="2250" b="1">
                <a:solidFill>
                  <a:srgbClr val="F2B928"/>
                </a:solidFill>
              </a:rPr>
              <a:t>›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854A6F-BC08-4B5E-A087-4AF648D3C1A4}"/>
              </a:ext>
            </a:extLst>
          </p:cNvPr>
          <p:cNvSpPr>
            <a:spLocks noGrp="1"/>
          </p:cNvSpPr>
          <p:nvPr/>
        </p:nvSpPr>
        <p:spPr>
          <a:xfrm>
            <a:off x="3219450" y="2362200"/>
            <a:ext cx="2038350" cy="1866900"/>
          </a:xfrm>
          <a:prstGeom prst="roundRect">
            <a:avLst>
              <a:gd name="adj" fmla="val 6122"/>
            </a:avLst>
          </a:prstGeom>
          <a:solidFill>
            <a:srgbClr val="EAF3FC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806762-6575-4550-B1CF-DE4173DD0084}"/>
              </a:ext>
            </a:extLst>
          </p:cNvPr>
          <p:cNvSpPr>
            <a:spLocks noGrp="1"/>
          </p:cNvSpPr>
          <p:nvPr/>
        </p:nvSpPr>
        <p:spPr>
          <a:xfrm>
            <a:off x="3409950" y="25717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674D1"/>
                </a:solidFill>
              </a:defRPr>
            </a:pPr>
            <a:r>
              <a:rPr sz="1650" b="1">
                <a:solidFill>
                  <a:srgbClr val="1674D1"/>
                </a:solidFill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E0885-A3B9-429A-B5D6-1D46BA702D7D}"/>
              </a:ext>
            </a:extLst>
          </p:cNvPr>
          <p:cNvSpPr>
            <a:spLocks noGrp="1"/>
          </p:cNvSpPr>
          <p:nvPr/>
        </p:nvSpPr>
        <p:spPr>
          <a:xfrm>
            <a:off x="3409950" y="304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8345F"/>
                </a:solidFill>
              </a:defRPr>
            </a:pPr>
            <a:r>
              <a:rPr sz="1575" b="1">
                <a:solidFill>
                  <a:srgbClr val="08345F"/>
                </a:solidFill>
              </a:rPr>
              <a:t>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1B85AD-73BC-4FFB-893A-3D28A081D1BC}"/>
              </a:ext>
            </a:extLst>
          </p:cNvPr>
          <p:cNvSpPr>
            <a:spLocks noGrp="1"/>
          </p:cNvSpPr>
          <p:nvPr/>
        </p:nvSpPr>
        <p:spPr>
          <a:xfrm>
            <a:off x="3409950" y="3429000"/>
            <a:ext cx="1657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Officer checks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EC4156-4577-42BD-9810-7CB70DBAC56B}"/>
              </a:ext>
            </a:extLst>
          </p:cNvPr>
          <p:cNvSpPr>
            <a:spLocks noGrp="1"/>
          </p:cNvSpPr>
          <p:nvPr/>
        </p:nvSpPr>
        <p:spPr>
          <a:xfrm>
            <a:off x="5314950" y="304800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2B928"/>
                </a:solidFill>
              </a:defRPr>
            </a:pPr>
            <a:r>
              <a:rPr sz="2250" b="1">
                <a:solidFill>
                  <a:srgbClr val="F2B928"/>
                </a:solidFill>
              </a:rPr>
              <a:t>›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71C08DA-D83A-492F-A497-E91637D3ADBB}"/>
              </a:ext>
            </a:extLst>
          </p:cNvPr>
          <p:cNvSpPr>
            <a:spLocks noGrp="1"/>
          </p:cNvSpPr>
          <p:nvPr/>
        </p:nvSpPr>
        <p:spPr>
          <a:xfrm>
            <a:off x="5638800" y="2362200"/>
            <a:ext cx="20383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346C71-2DB1-4108-AFFD-63608124816D}"/>
              </a:ext>
            </a:extLst>
          </p:cNvPr>
          <p:cNvSpPr>
            <a:spLocks noGrp="1"/>
          </p:cNvSpPr>
          <p:nvPr/>
        </p:nvSpPr>
        <p:spPr>
          <a:xfrm>
            <a:off x="5829300" y="25717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674D1"/>
                </a:solidFill>
              </a:defRPr>
            </a:pPr>
            <a:r>
              <a:rPr sz="1650" b="1">
                <a:solidFill>
                  <a:srgbClr val="1674D1"/>
                </a:solidFill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B6790E-5CDE-4151-8D35-9E5716FC6CFE}"/>
              </a:ext>
            </a:extLst>
          </p:cNvPr>
          <p:cNvSpPr>
            <a:spLocks noGrp="1"/>
          </p:cNvSpPr>
          <p:nvPr/>
        </p:nvSpPr>
        <p:spPr>
          <a:xfrm>
            <a:off x="5829300" y="304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8345F"/>
                </a:solidFill>
              </a:defRPr>
            </a:pPr>
            <a:r>
              <a:rPr sz="1575" b="1">
                <a:solidFill>
                  <a:srgbClr val="08345F"/>
                </a:solidFill>
              </a:rPr>
              <a:t>DECIDE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EC73B0-41BF-46AD-B3EE-302986653BC5}"/>
              </a:ext>
            </a:extLst>
          </p:cNvPr>
          <p:cNvSpPr>
            <a:spLocks noGrp="1"/>
          </p:cNvSpPr>
          <p:nvPr/>
        </p:nvSpPr>
        <p:spPr>
          <a:xfrm>
            <a:off x="5829300" y="3429000"/>
            <a:ext cx="1657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Approve or reject with notes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2CF64E-D147-4FA5-8544-974593373A3C}"/>
              </a:ext>
            </a:extLst>
          </p:cNvPr>
          <p:cNvSpPr>
            <a:spLocks noGrp="1"/>
          </p:cNvSpPr>
          <p:nvPr/>
        </p:nvSpPr>
        <p:spPr>
          <a:xfrm>
            <a:off x="7734300" y="3048000"/>
            <a:ext cx="228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2B928"/>
                </a:solidFill>
              </a:defRPr>
            </a:pPr>
            <a:r>
              <a:rPr sz="2250" b="1">
                <a:solidFill>
                  <a:srgbClr val="F2B928"/>
                </a:solidFill>
              </a:rPr>
              <a:t>›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4AE4149-2F4C-46A8-8E84-2075366AB24D}"/>
              </a:ext>
            </a:extLst>
          </p:cNvPr>
          <p:cNvSpPr>
            <a:spLocks noGrp="1"/>
          </p:cNvSpPr>
          <p:nvPr/>
        </p:nvSpPr>
        <p:spPr>
          <a:xfrm>
            <a:off x="8058150" y="2362200"/>
            <a:ext cx="2038350" cy="186690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D5EB98-2C05-40B4-81CD-93A01AE30BE8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38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674D1"/>
                </a:solidFill>
              </a:defRPr>
            </a:pPr>
            <a:r>
              <a:rPr sz="1650" b="1">
                <a:solidFill>
                  <a:srgbClr val="1674D1"/>
                </a:solidFill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F832E17-C426-4ADB-B194-87B4E8767158}"/>
              </a:ext>
            </a:extLst>
          </p:cNvPr>
          <p:cNvSpPr>
            <a:spLocks noGrp="1"/>
          </p:cNvSpPr>
          <p:nvPr/>
        </p:nvSpPr>
        <p:spPr>
          <a:xfrm>
            <a:off x="8248650" y="3048000"/>
            <a:ext cx="1657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08345F"/>
                </a:solidFill>
              </a:defRPr>
            </a:pPr>
            <a:r>
              <a:rPr sz="1575" b="1">
                <a:solidFill>
                  <a:srgbClr val="08345F"/>
                </a:solidFill>
              </a:rPr>
              <a:t>AWARD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053466-C90C-4EBB-8606-557134752EBF}"/>
              </a:ext>
            </a:extLst>
          </p:cNvPr>
          <p:cNvSpPr>
            <a:spLocks noGrp="1"/>
          </p:cNvSpPr>
          <p:nvPr/>
        </p:nvSpPr>
        <p:spPr>
          <a:xfrm>
            <a:off x="8248650" y="3429000"/>
            <a:ext cx="1657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Matrix reflects final status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83491F-7D06-473F-A852-5733DD498826}"/>
              </a:ext>
            </a:extLst>
          </p:cNvPr>
          <p:cNvSpPr>
            <a:spLocks noGrp="1"/>
          </p:cNvSpPr>
          <p:nvPr/>
        </p:nvSpPr>
        <p:spPr>
          <a:xfrm>
            <a:off x="800100" y="4762500"/>
            <a:ext cx="962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Administrators may archive or delete old submissions. Officers can edit a review result when needed.</a:t>
            </a:r>
          </a:p>
        </p:txBody>
      </p:sp>
    </p:spTree>
    <p:extLst>
      <p:ext uri="{BB962C8B-B14F-4D97-AF65-F5344CB8AC3E}">
        <p14:creationId xmlns:p14="http://schemas.microsoft.com/office/powerpoint/2010/main" val="1571346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01B29DA-DE77-40E6-A8EF-39838B0367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699ABD-5F94-4D58-928B-EF6B511C8794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PROGRAMME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A5E51-A25F-4578-8F7C-A2B785D93FFE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980E216-9F87-44C4-BF67-49ADF1C166D6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731520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2326B5-FEB3-4786-8ABE-BD9E6FA9DEA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Programme keeps company activities in one place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3DB86C-47DC-4DEA-8C17-1366E91AE450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Events, parade plans, duties, committees, resources and notices share the same hub.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903" r="903"/>
          <a:stretch>
            <a:fillRect/>
          </a:stretch>
        </p:blipFill>
        <p:spPr>
          <a:xfrm>
            <a:off x="609600" y="2000250"/>
            <a:ext cx="6324600" cy="3714750"/>
          </a:xfrm>
          <a:prstGeom prst="roundRect">
            <a:avLst>
              <a:gd name="adj" fmla="val 3077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28AFC23-07CA-425D-BCBE-0BAB34C41381}"/>
              </a:ext>
            </a:extLst>
          </p:cNvPr>
          <p:cNvSpPr>
            <a:spLocks noGrp="1"/>
          </p:cNvSpPr>
          <p:nvPr/>
        </p:nvSpPr>
        <p:spPr>
          <a:xfrm>
            <a:off x="7505700" y="2152650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Common actions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0A1CAE-9E16-4EC0-8E8F-DE1F1DC0295D}"/>
              </a:ext>
            </a:extLst>
          </p:cNvPr>
          <p:cNvSpPr>
            <a:spLocks noGrp="1"/>
          </p:cNvSpPr>
          <p:nvPr/>
        </p:nvSpPr>
        <p:spPr>
          <a:xfrm>
            <a:off x="7505700" y="2667000"/>
            <a:ext cx="348615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RSVP to an event</a:t>
            </a:r>
          </a:p>
          <a:p>
            <a:endParaRPr sz="1425" b="0">
              <a:solidFill>
                <a:srgbClr val="102A43"/>
              </a:solidFill>
            </a:endParaRPr>
          </a:p>
          <a:p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Add an event to your calendar</a:t>
            </a:r>
          </a:p>
          <a:p>
            <a:endParaRPr sz="1425" b="0">
              <a:solidFill>
                <a:srgbClr val="102A43"/>
              </a:solidFill>
            </a:endParaRPr>
          </a:p>
          <a:p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View duty assignments</a:t>
            </a:r>
          </a:p>
          <a:p>
            <a:endParaRPr sz="1425" b="0">
              <a:solidFill>
                <a:srgbClr val="102A43"/>
              </a:solidFill>
            </a:endParaRPr>
          </a:p>
          <a:p>
            <a:pPr algn="l">
              <a:defRPr sz="1425" b="0">
                <a:solidFill>
                  <a:srgbClr val="102A43"/>
                </a:solidFill>
              </a:defRPr>
            </a:pPr>
            <a:r>
              <a:rPr sz="1425" b="0">
                <a:solidFill>
                  <a:srgbClr val="102A43"/>
                </a:solidFill>
              </a:rPr>
              <a:t>• Read resources and announcements</a:t>
            </a:r>
          </a:p>
        </p:txBody>
      </p:sp>
    </p:spTree>
    <p:extLst>
      <p:ext uri="{BB962C8B-B14F-4D97-AF65-F5344CB8AC3E}">
        <p14:creationId xmlns:p14="http://schemas.microsoft.com/office/powerpoint/2010/main" val="1915670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0F24358-6434-4F9B-8D37-B13FE5E1C7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23FD4E-06F3-4AB3-AB55-E9A0C1E1234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QUARTERMASTER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5657CC-3706-4B47-A778-DEB0564E4CB7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6E5485-9000-43B2-A60E-4A8D8F4083C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804672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48019D-D7FE-49F9-8264-CA448CB4678D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Uniform requests and stock use one connected flow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3A7C1A-ADAD-43CE-B9A1-AAF205A6B56E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Every issue and return stays linked to a member and the audit history.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75230BB-E00F-42C7-86E4-4908B2A8488B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4003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57F585-5351-4089-AED6-4F5FBE33536B}"/>
              </a:ext>
            </a:extLst>
          </p:cNvPr>
          <p:cNvSpPr>
            <a:spLocks noGrp="1"/>
          </p:cNvSpPr>
          <p:nvPr/>
        </p:nvSpPr>
        <p:spPr>
          <a:xfrm>
            <a:off x="857250" y="2533650"/>
            <a:ext cx="2057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PENDING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7B333B-D0B5-4F9E-9589-C51B1DDEC237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Review request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33EB1A-AD28-4039-AC44-D076D1219350}"/>
              </a:ext>
            </a:extLst>
          </p:cNvPr>
          <p:cNvSpPr>
            <a:spLocks noGrp="1"/>
          </p:cNvSpPr>
          <p:nvPr/>
        </p:nvSpPr>
        <p:spPr>
          <a:xfrm>
            <a:off x="3114675" y="26860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08345F"/>
                </a:solidFill>
              </a:defRPr>
            </a:pPr>
            <a:r>
              <a:rPr sz="2025" b="1">
                <a:solidFill>
                  <a:srgbClr val="08345F"/>
                </a:solidFill>
              </a:rPr>
              <a:t>→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4DCA8AF-07DA-4057-BDD1-BA176BA78E7E}"/>
              </a:ext>
            </a:extLst>
          </p:cNvPr>
          <p:cNvSpPr>
            <a:spLocks noGrp="1"/>
          </p:cNvSpPr>
          <p:nvPr/>
        </p:nvSpPr>
        <p:spPr>
          <a:xfrm>
            <a:off x="3486150" y="2324100"/>
            <a:ext cx="24003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07597E-2F4C-44FD-851C-54B30FC75F31}"/>
              </a:ext>
            </a:extLst>
          </p:cNvPr>
          <p:cNvSpPr>
            <a:spLocks noGrp="1"/>
          </p:cNvSpPr>
          <p:nvPr/>
        </p:nvSpPr>
        <p:spPr>
          <a:xfrm>
            <a:off x="3657600" y="2533650"/>
            <a:ext cx="2057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APPROVED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99B77B-4C36-40F9-AAEE-498A81C7EDC2}"/>
              </a:ext>
            </a:extLst>
          </p:cNvPr>
          <p:cNvSpPr>
            <a:spLocks noGrp="1"/>
          </p:cNvSpPr>
          <p:nvPr/>
        </p:nvSpPr>
        <p:spPr>
          <a:xfrm>
            <a:off x="3657600" y="29527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Reserve stock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62FB9A-385B-4E0E-9C8C-AC54E99B6D38}"/>
              </a:ext>
            </a:extLst>
          </p:cNvPr>
          <p:cNvSpPr>
            <a:spLocks noGrp="1"/>
          </p:cNvSpPr>
          <p:nvPr/>
        </p:nvSpPr>
        <p:spPr>
          <a:xfrm>
            <a:off x="5915025" y="26860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08345F"/>
                </a:solidFill>
              </a:defRPr>
            </a:pPr>
            <a:r>
              <a:rPr sz="2025" b="1">
                <a:solidFill>
                  <a:srgbClr val="08345F"/>
                </a:solidFill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0AABA8-C427-4180-90E0-3BE1F075FA59}"/>
              </a:ext>
            </a:extLst>
          </p:cNvPr>
          <p:cNvSpPr>
            <a:spLocks noGrp="1"/>
          </p:cNvSpPr>
          <p:nvPr/>
        </p:nvSpPr>
        <p:spPr>
          <a:xfrm>
            <a:off x="6286500" y="2324100"/>
            <a:ext cx="2400300" cy="1162050"/>
          </a:xfrm>
          <a:prstGeom prst="roundRect">
            <a:avLst>
              <a:gd name="adj" fmla="val 9836"/>
            </a:avLst>
          </a:prstGeom>
          <a:solidFill>
            <a:srgbClr val="FFF7D8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F0BD58-3558-4253-9FE4-E6CAED5856BF}"/>
              </a:ext>
            </a:extLst>
          </p:cNvPr>
          <p:cNvSpPr>
            <a:spLocks noGrp="1"/>
          </p:cNvSpPr>
          <p:nvPr/>
        </p:nvSpPr>
        <p:spPr>
          <a:xfrm>
            <a:off x="6457950" y="2533650"/>
            <a:ext cx="2057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66800"/>
                </a:solidFill>
              </a:defRPr>
            </a:pPr>
            <a:r>
              <a:rPr sz="1350" b="1">
                <a:solidFill>
                  <a:srgbClr val="966800"/>
                </a:solidFill>
              </a:rPr>
              <a:t>READY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9AF6E4-E477-4889-8AA5-234275B6E6ED}"/>
              </a:ext>
            </a:extLst>
          </p:cNvPr>
          <p:cNvSpPr>
            <a:spLocks noGrp="1"/>
          </p:cNvSpPr>
          <p:nvPr/>
        </p:nvSpPr>
        <p:spPr>
          <a:xfrm>
            <a:off x="6457950" y="29527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Notify collection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149E6E-3353-4DE0-8D44-DD70C0E25189}"/>
              </a:ext>
            </a:extLst>
          </p:cNvPr>
          <p:cNvSpPr>
            <a:spLocks noGrp="1"/>
          </p:cNvSpPr>
          <p:nvPr/>
        </p:nvSpPr>
        <p:spPr>
          <a:xfrm>
            <a:off x="8715375" y="2686050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08345F"/>
                </a:solidFill>
              </a:defRPr>
            </a:pPr>
            <a:r>
              <a:rPr sz="2025" b="1">
                <a:solidFill>
                  <a:srgbClr val="08345F"/>
                </a:solidFill>
              </a:rPr>
              <a:t>→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850EA8A-6135-4DFA-AF4E-101E8C3C55F0}"/>
              </a:ext>
            </a:extLst>
          </p:cNvPr>
          <p:cNvSpPr>
            <a:spLocks noGrp="1"/>
          </p:cNvSpPr>
          <p:nvPr/>
        </p:nvSpPr>
        <p:spPr>
          <a:xfrm>
            <a:off x="9086850" y="2324100"/>
            <a:ext cx="2400300" cy="1162050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9AB80B-087C-4343-8083-572ADF68CBFD}"/>
              </a:ext>
            </a:extLst>
          </p:cNvPr>
          <p:cNvSpPr>
            <a:spLocks noGrp="1"/>
          </p:cNvSpPr>
          <p:nvPr/>
        </p:nvSpPr>
        <p:spPr>
          <a:xfrm>
            <a:off x="9258300" y="2533650"/>
            <a:ext cx="2057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ISSUED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F02795-1D0C-4654-8CD7-3B471E2A48EA}"/>
              </a:ext>
            </a:extLst>
          </p:cNvPr>
          <p:cNvSpPr>
            <a:spLocks noGrp="1"/>
          </p:cNvSpPr>
          <p:nvPr/>
        </p:nvSpPr>
        <p:spPr>
          <a:xfrm>
            <a:off x="9258300" y="295275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Confirm handover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860F9FE-3C71-412F-BDE8-5B8200F07B59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971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Stock Centre to search items, issue or return stock, review low stock and see member holdings.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8B3E951-DDF8-46B5-A234-EDC0FFE51832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9715500" cy="533400"/>
          </a:xfrm>
          <a:prstGeom prst="roundRect">
            <a:avLst>
              <a:gd name="adj" fmla="val 21429"/>
            </a:avLst>
          </a:prstGeom>
          <a:solidFill>
            <a:srgbClr val="FDECEC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19D43B-8CED-466E-992D-ACCE5A911AEE}"/>
              </a:ext>
            </a:extLst>
          </p:cNvPr>
          <p:cNvSpPr>
            <a:spLocks noGrp="1"/>
          </p:cNvSpPr>
          <p:nvPr/>
        </p:nvSpPr>
        <p:spPr>
          <a:xfrm>
            <a:off x="1066800" y="5076825"/>
            <a:ext cx="923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Defective stock cannot be issued.</a:t>
            </a:r>
          </a:p>
        </p:txBody>
      </p:sp>
    </p:spTree>
    <p:extLst>
      <p:ext uri="{BB962C8B-B14F-4D97-AF65-F5344CB8AC3E}">
        <p14:creationId xmlns:p14="http://schemas.microsoft.com/office/powerpoint/2010/main" val="340416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561FEF-EB1B-44F6-98BC-BCB12E10BF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BF85F7-F404-4D2F-AF76-B0EFFB4CA425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ADMINISTRATION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689E79-076C-4D98-BE8E-25979849799B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18AA2A-044D-4A71-9CF6-6288EDAAE403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877824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555D-2B00-492D-9445-8117ABDF379F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Admins control access without recreating accounts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8142AA-C398-4E1F-8009-123092B16865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Roles, squads, temporary access and custom permissions can be changed safely.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rcRect l="2426" r="2426"/>
          <a:stretch>
            <a:fillRect/>
          </a:stretch>
        </p:blipFill>
        <p:spPr>
          <a:xfrm>
            <a:off x="609600" y="1962150"/>
            <a:ext cx="6191250" cy="3752850"/>
          </a:xfrm>
          <a:prstGeom prst="roundRect">
            <a:avLst>
              <a:gd name="adj" fmla="val 3046"/>
            </a:avLst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B948603-FABD-471E-A1C8-3A22E6D6EE07}"/>
              </a:ext>
            </a:extLst>
          </p:cNvPr>
          <p:cNvSpPr>
            <a:spLocks noGrp="1"/>
          </p:cNvSpPr>
          <p:nvPr/>
        </p:nvSpPr>
        <p:spPr>
          <a:xfrm>
            <a:off x="7334250" y="21336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8345F"/>
                </a:solidFill>
              </a:defRPr>
            </a:pPr>
            <a:r>
              <a:rPr sz="1800" b="1">
                <a:solidFill>
                  <a:srgbClr val="08345F"/>
                </a:solidFill>
              </a:rPr>
              <a:t>Admin checklist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D985AE-D31D-4CB9-90D5-102D59F1F60E}"/>
              </a:ext>
            </a:extLst>
          </p:cNvPr>
          <p:cNvSpPr>
            <a:spLocks noGrp="1"/>
          </p:cNvSpPr>
          <p:nvPr/>
        </p:nvSpPr>
        <p:spPr>
          <a:xfrm>
            <a:off x="7334250" y="2647950"/>
            <a:ext cx="37147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1. Create or link the account</a:t>
            </a:r>
          </a:p>
          <a:p>
            <a:endParaRPr sz="1350" b="0">
              <a:solidFill>
                <a:srgbClr val="102A43"/>
              </a:solidFill>
            </a:endParaRPr>
          </a:p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2. Assign role and squad</a:t>
            </a:r>
          </a:p>
          <a:p>
            <a:endParaRPr sz="1350" b="0">
              <a:solidFill>
                <a:srgbClr val="102A43"/>
              </a:solidFill>
            </a:endParaRPr>
          </a:p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3. Add custom access only when needed</a:t>
            </a:r>
          </a:p>
          <a:p>
            <a:endParaRPr sz="1350" b="0">
              <a:solidFill>
                <a:srgbClr val="102A43"/>
              </a:solidFill>
            </a:endParaRPr>
          </a:p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4. Set an expiry for temporary access</a:t>
            </a:r>
          </a:p>
          <a:p>
            <a:endParaRPr sz="1350" b="0">
              <a:solidFill>
                <a:srgbClr val="102A43"/>
              </a:solidFill>
            </a:endParaRPr>
          </a:p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5. Confirm the success message</a:t>
            </a:r>
          </a:p>
        </p:txBody>
      </p:sp>
    </p:spTree>
    <p:extLst>
      <p:ext uri="{BB962C8B-B14F-4D97-AF65-F5344CB8AC3E}">
        <p14:creationId xmlns:p14="http://schemas.microsoft.com/office/powerpoint/2010/main" val="109312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9176FA-F031-48DC-809C-C63B182320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EB0D63-C40B-4A22-847D-F447396A08F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CONTROLS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9A32E0-F7F7-4E13-A90F-7ACB012564DF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5E15C6-120B-4243-A2BF-CF08EB23FA5E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50976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368A24-50ED-4966-87C6-F02BE2E32C7C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Reports and audit tools keep work accountable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E9E959-0FB4-464B-9D91-0E09F2226428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Exports follow permissions and record who created them.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ABEDE9-EE9E-4F49-BD89-6F45EA28CA72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EXPORT CENTRE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9FCB1A-6568-4FB1-97F4-2302C6C78AEF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3143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School reports omit contact, parent and emergency details.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CEA2C599-3E70-4B6C-8A99-632F65FA66F3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3143250" cy="0"/>
          </a:xfrm>
          <a:prstGeom prst="line">
            <a:avLst/>
          </a:prstGeom>
          <a:ln w="38100">
            <a:solidFill>
              <a:srgbClr val="F2B92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86AF2F-5906-4393-B553-0E6CEAA91802}"/>
              </a:ext>
            </a:extLst>
          </p:cNvPr>
          <p:cNvSpPr>
            <a:spLocks noGrp="1"/>
          </p:cNvSpPr>
          <p:nvPr/>
        </p:nvSpPr>
        <p:spPr>
          <a:xfrm>
            <a:off x="4400550" y="21907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AUDIT HISTORY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D71F42-9146-449C-BDAC-23C1937BE4D6}"/>
              </a:ext>
            </a:extLst>
          </p:cNvPr>
          <p:cNvSpPr>
            <a:spLocks noGrp="1"/>
          </p:cNvSpPr>
          <p:nvPr/>
        </p:nvSpPr>
        <p:spPr>
          <a:xfrm>
            <a:off x="4400550" y="2667000"/>
            <a:ext cx="3143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Shows who changed profiles, attendance, awards, roles and stock.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D318EDAF-DA74-4887-AAB8-80B90E58795A}"/>
              </a:ext>
            </a:extLst>
          </p:cNvPr>
          <p:cNvSpPr>
            <a:spLocks noGrp="1"/>
          </p:cNvSpPr>
          <p:nvPr/>
        </p:nvSpPr>
        <p:spPr>
          <a:xfrm>
            <a:off x="4400550" y="4133850"/>
            <a:ext cx="3143250" cy="0"/>
          </a:xfrm>
          <a:prstGeom prst="line">
            <a:avLst/>
          </a:prstGeom>
          <a:ln w="38100">
            <a:solidFill>
              <a:srgbClr val="F2B92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8F553B-1F18-4981-9615-ED2525ADDE7C}"/>
              </a:ext>
            </a:extLst>
          </p:cNvPr>
          <p:cNvSpPr>
            <a:spLocks noGrp="1"/>
          </p:cNvSpPr>
          <p:nvPr/>
        </p:nvSpPr>
        <p:spPr>
          <a:xfrm>
            <a:off x="8115300" y="219075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674D1"/>
                </a:solidFill>
              </a:defRPr>
            </a:pPr>
            <a:r>
              <a:rPr sz="1350" b="1">
                <a:solidFill>
                  <a:srgbClr val="1674D1"/>
                </a:solidFill>
              </a:rPr>
              <a:t>AUTOMATION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591B9-5104-4574-934F-DB889E59E3CE}"/>
              </a:ext>
            </a:extLst>
          </p:cNvPr>
          <p:cNvSpPr>
            <a:spLocks noGrp="1"/>
          </p:cNvSpPr>
          <p:nvPr/>
        </p:nvSpPr>
        <p:spPr>
          <a:xfrm>
            <a:off x="8115300" y="2667000"/>
            <a:ext cx="31432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Creates reminders and action items—but never approves official decisions.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EC78F255-D59A-4302-A68D-3649409A3F77}"/>
              </a:ext>
            </a:extLst>
          </p:cNvPr>
          <p:cNvSpPr>
            <a:spLocks noGrp="1"/>
          </p:cNvSpPr>
          <p:nvPr/>
        </p:nvSpPr>
        <p:spPr>
          <a:xfrm>
            <a:off x="8115300" y="4133850"/>
            <a:ext cx="3143250" cy="0"/>
          </a:xfrm>
          <a:prstGeom prst="line">
            <a:avLst/>
          </a:prstGeom>
          <a:ln w="38100">
            <a:solidFill>
              <a:srgbClr val="F2B92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13A304-C72A-49EC-8037-A6448498B1F4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1047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64748B"/>
                </a:solidFill>
              </a:defRPr>
            </a:pPr>
            <a:r>
              <a:rPr sz="1500" b="0">
                <a:solidFill>
                  <a:srgbClr val="64748B"/>
                </a:solidFill>
              </a:rPr>
              <a:t>Before exporting, choose the correct section, school, squad and reporting year.</a:t>
            </a:r>
          </a:p>
        </p:txBody>
      </p:sp>
    </p:spTree>
    <p:extLst>
      <p:ext uri="{BB962C8B-B14F-4D97-AF65-F5344CB8AC3E}">
        <p14:creationId xmlns:p14="http://schemas.microsoft.com/office/powerpoint/2010/main" val="2017429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0E787A4-99BB-44EB-BD67-C1707D6E49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8345F"/>
          </a:solidFill>
          <a:ln w="0">
            <a:solidFill>
              <a:srgbClr val="08345F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6DAC95E-B56A-4FFF-B888-320810A3676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674D1"/>
                </a:solidFill>
              </a:defRPr>
            </a:pPr>
            <a:r>
              <a:rPr sz="975" b="1">
                <a:solidFill>
                  <a:srgbClr val="1674D1"/>
                </a:solidFill>
              </a:rPr>
              <a:t>SAFE 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B6C1E2-918C-4136-8870-6A8C27821BA3}"/>
              </a:ext>
            </a:extLst>
          </p:cNvPr>
          <p:cNvSpPr>
            <a:spLocks noGrp="1"/>
          </p:cNvSpPr>
          <p:nvPr/>
        </p:nvSpPr>
        <p:spPr>
          <a:xfrm>
            <a:off x="11191875" y="4000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4748B"/>
                </a:solidFill>
              </a:defRPr>
            </a:pPr>
            <a:r>
              <a:rPr sz="975" b="1">
                <a:solidFill>
                  <a:srgbClr val="64748B"/>
                </a:solidFill>
              </a:rPr>
              <a:t>14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C4DD48-EF8B-436C-8391-95451D84DC35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10241280" cy="38100"/>
          </a:xfrm>
          <a:prstGeom prst="rect">
            <a:avLst/>
          </a:prstGeom>
          <a:solidFill>
            <a:srgbClr val="F2B928"/>
          </a:solidFill>
          <a:ln w="0">
            <a:solidFill>
              <a:srgbClr val="F2B92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5C5847-45BF-4A05-9243-C9C6A29C5919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925" b="1">
                <a:solidFill>
                  <a:srgbClr val="08345F"/>
                </a:solidFill>
              </a:defRPr>
            </a:pPr>
            <a:r>
              <a:rPr sz="2925" b="1">
                <a:solidFill>
                  <a:srgbClr val="08345F"/>
                </a:solidFill>
              </a:rPr>
              <a:t>The safest action is the one you can verify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A425B-E496-469B-8EB3-F9E8F178987A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4748B"/>
                </a:solidFill>
              </a:defRPr>
            </a:pPr>
            <a:r>
              <a:rPr sz="1425" b="0">
                <a:solidFill>
                  <a:srgbClr val="64748B"/>
                </a:solidFill>
              </a:rPr>
              <a:t>Pause when the role, member, section or result does not look right.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89ABEF-7820-4F33-97DA-8339402785EC}"/>
              </a:ext>
            </a:extLst>
          </p:cNvPr>
          <p:cNvSpPr>
            <a:spLocks noGrp="1"/>
          </p:cNvSpPr>
          <p:nvPr/>
        </p:nvSpPr>
        <p:spPr>
          <a:xfrm>
            <a:off x="800100" y="20764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98754"/>
                </a:solidFill>
              </a:defRPr>
            </a:pPr>
            <a:r>
              <a:rPr sz="1350" b="1">
                <a:solidFill>
                  <a:srgbClr val="198754"/>
                </a:solidFill>
              </a:rPr>
              <a:t>DO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07FF40-8708-407C-8E62-EDFEE4921766}"/>
              </a:ext>
            </a:extLst>
          </p:cNvPr>
          <p:cNvSpPr>
            <a:spLocks noGrp="1"/>
          </p:cNvSpPr>
          <p:nvPr/>
        </p:nvSpPr>
        <p:spPr>
          <a:xfrm>
            <a:off x="1752600" y="207645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Read the success message before pressing again.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C7DEB0-0AAD-4D98-B791-960C6C4D6CCF}"/>
              </a:ext>
            </a:extLst>
          </p:cNvPr>
          <p:cNvSpPr>
            <a:spLocks noGrp="1"/>
          </p:cNvSpPr>
          <p:nvPr/>
        </p:nvSpPr>
        <p:spPr>
          <a:xfrm>
            <a:off x="800100" y="289560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98754"/>
                </a:solidFill>
              </a:defRPr>
            </a:pPr>
            <a:r>
              <a:rPr sz="1350" b="1">
                <a:solidFill>
                  <a:srgbClr val="198754"/>
                </a:solidFill>
              </a:rPr>
              <a:t>DO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1F01989-6D36-40F5-9BF4-640D8A6610F7}"/>
              </a:ext>
            </a:extLst>
          </p:cNvPr>
          <p:cNvSpPr>
            <a:spLocks noGrp="1"/>
          </p:cNvSpPr>
          <p:nvPr/>
        </p:nvSpPr>
        <p:spPr>
          <a:xfrm>
            <a:off x="1752600" y="289560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Check Senior / Junior and the member or squad.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DAE160-23ED-434E-8108-C0491B355EF3}"/>
              </a:ext>
            </a:extLst>
          </p:cNvPr>
          <p:cNvSpPr>
            <a:spLocks noGrp="1"/>
          </p:cNvSpPr>
          <p:nvPr/>
        </p:nvSpPr>
        <p:spPr>
          <a:xfrm>
            <a:off x="800100" y="371475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98754"/>
                </a:solidFill>
              </a:defRPr>
            </a:pPr>
            <a:r>
              <a:rPr sz="1350" b="1">
                <a:solidFill>
                  <a:srgbClr val="198754"/>
                </a:solidFill>
              </a:rPr>
              <a:t>DO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D1414A-5FDA-44AC-B555-073F3622D8C6}"/>
              </a:ext>
            </a:extLst>
          </p:cNvPr>
          <p:cNvSpPr>
            <a:spLocks noGrp="1"/>
          </p:cNvSpPr>
          <p:nvPr/>
        </p:nvSpPr>
        <p:spPr>
          <a:xfrm>
            <a:off x="1752600" y="371475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Use correction requests for official profile errors.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4F99C3-9232-4441-A5D3-921A456068AA}"/>
              </a:ext>
            </a:extLst>
          </p:cNvPr>
          <p:cNvSpPr>
            <a:spLocks noGrp="1"/>
          </p:cNvSpPr>
          <p:nvPr/>
        </p:nvSpPr>
        <p:spPr>
          <a:xfrm>
            <a:off x="800100" y="4533900"/>
            <a:ext cx="857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B42318"/>
                </a:solidFill>
              </a:defRPr>
            </a:pPr>
            <a:r>
              <a:rPr sz="1350" b="1">
                <a:solidFill>
                  <a:srgbClr val="B42318"/>
                </a:solidFill>
              </a:rPr>
              <a:t>DON’T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F9C95F-9933-41C3-9302-199D06BEE623}"/>
              </a:ext>
            </a:extLst>
          </p:cNvPr>
          <p:cNvSpPr>
            <a:spLocks noGrp="1"/>
          </p:cNvSpPr>
          <p:nvPr/>
        </p:nvSpPr>
        <p:spPr>
          <a:xfrm>
            <a:off x="1752600" y="4533900"/>
            <a:ext cx="8763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02A43"/>
                </a:solidFill>
              </a:defRPr>
            </a:pPr>
            <a:r>
              <a:rPr sz="1500" b="0">
                <a:solidFill>
                  <a:srgbClr val="102A43"/>
                </a:solidFill>
              </a:rPr>
              <a:t>Share passwords, screenshots or exports unnecessarily.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076A0EE-822F-4B82-930D-917F6C677C8F}"/>
              </a:ext>
            </a:extLst>
          </p:cNvPr>
          <p:cNvSpPr>
            <a:spLocks noGrp="1"/>
          </p:cNvSpPr>
          <p:nvPr/>
        </p:nvSpPr>
        <p:spPr>
          <a:xfrm>
            <a:off x="800100" y="5486400"/>
            <a:ext cx="9715500" cy="495300"/>
          </a:xfrm>
          <a:prstGeom prst="roundRect">
            <a:avLst>
              <a:gd name="adj" fmla="val 23077"/>
            </a:avLst>
          </a:prstGeom>
          <a:solidFill>
            <a:srgbClr val="EAF3FC"/>
          </a:solidFill>
          <a:ln w="9525">
            <a:solidFill>
              <a:srgbClr val="D8E3E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75970E-2589-4CCD-9B86-C48BCA221BFC}"/>
              </a:ext>
            </a:extLst>
          </p:cNvPr>
          <p:cNvSpPr>
            <a:spLocks noGrp="1"/>
          </p:cNvSpPr>
          <p:nvPr/>
        </p:nvSpPr>
        <p:spPr>
          <a:xfrm>
            <a:off x="1009650" y="5619750"/>
            <a:ext cx="929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8345F"/>
                </a:solidFill>
              </a:defRPr>
            </a:pPr>
            <a:r>
              <a:rPr sz="1350" b="1">
                <a:solidFill>
                  <a:srgbClr val="08345F"/>
                </a:solidFill>
              </a:rPr>
              <a:t>When in doubt: stop, take a screenshot, and contact an officer or administrator.</a:t>
            </a:r>
          </a:p>
        </p:txBody>
      </p:sp>
    </p:spTree>
    <p:extLst>
      <p:ext uri="{BB962C8B-B14F-4D97-AF65-F5344CB8AC3E}">
        <p14:creationId xmlns:p14="http://schemas.microsoft.com/office/powerpoint/2010/main" val="2098137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4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1818D41-0769-46FC-B09D-366829B47899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2B928"/>
                </a:solidFill>
              </a:defRPr>
            </a:pPr>
            <a:r>
              <a:rPr sz="1125" b="1">
                <a:solidFill>
                  <a:srgbClr val="F2B928"/>
                </a:solidFill>
              </a:rPr>
              <a:t>YOU’RE READY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2C4B32-98EE-47A3-BCC3-0F355A1C3816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7143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Five habits make the app easy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D62B66-AB1C-45B5-8D34-08E5EACF4BEB}"/>
              </a:ext>
            </a:extLst>
          </p:cNvPr>
          <p:cNvSpPr>
            <a:spLocks noGrp="1"/>
          </p:cNvSpPr>
          <p:nvPr/>
        </p:nvSpPr>
        <p:spPr>
          <a:xfrm>
            <a:off x="819150" y="23050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2B928"/>
                </a:solidFill>
              </a:defRPr>
            </a:pPr>
            <a:r>
              <a:rPr sz="1650" b="1">
                <a:solidFill>
                  <a:srgbClr val="F2B928"/>
                </a:solidFill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2B4CF6-978A-4EA5-A3A0-374DA5FDA6EB}"/>
              </a:ext>
            </a:extLst>
          </p:cNvPr>
          <p:cNvSpPr>
            <a:spLocks noGrp="1"/>
          </p:cNvSpPr>
          <p:nvPr/>
        </p:nvSpPr>
        <p:spPr>
          <a:xfrm>
            <a:off x="1352550" y="230505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Choose the correct section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D1A971-49FD-4319-8494-9FDFA4CBC638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2B928"/>
                </a:solidFill>
              </a:defRPr>
            </a:pPr>
            <a:r>
              <a:rPr sz="1650" b="1">
                <a:solidFill>
                  <a:srgbClr val="F2B928"/>
                </a:solidFill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915B68-E937-40DD-A651-2F3458D95EAC}"/>
              </a:ext>
            </a:extLst>
          </p:cNvPr>
          <p:cNvSpPr>
            <a:spLocks noGrp="1"/>
          </p:cNvSpPr>
          <p:nvPr/>
        </p:nvSpPr>
        <p:spPr>
          <a:xfrm>
            <a:off x="1352550" y="295275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Start from the right hub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A8C4C1-A8F9-4E51-8F05-6B2501B6D5ED}"/>
              </a:ext>
            </a:extLst>
          </p:cNvPr>
          <p:cNvSpPr>
            <a:spLocks noGrp="1"/>
          </p:cNvSpPr>
          <p:nvPr/>
        </p:nvSpPr>
        <p:spPr>
          <a:xfrm>
            <a:off x="819150" y="36004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2B928"/>
                </a:solidFill>
              </a:defRPr>
            </a:pPr>
            <a:r>
              <a:rPr sz="1650" b="1">
                <a:solidFill>
                  <a:srgbClr val="F2B928"/>
                </a:solidFill>
              </a:rPr>
              <a:t>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26258-53B3-466E-9BCE-4CF1A354452C}"/>
              </a:ext>
            </a:extLst>
          </p:cNvPr>
          <p:cNvSpPr>
            <a:spLocks noGrp="1"/>
          </p:cNvSpPr>
          <p:nvPr/>
        </p:nvSpPr>
        <p:spPr>
          <a:xfrm>
            <a:off x="1352550" y="360045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Open only work assigned to your role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8229E5-C560-475A-A61A-F9BFF9C002F5}"/>
              </a:ext>
            </a:extLst>
          </p:cNvPr>
          <p:cNvSpPr>
            <a:spLocks noGrp="1"/>
          </p:cNvSpPr>
          <p:nvPr/>
        </p:nvSpPr>
        <p:spPr>
          <a:xfrm>
            <a:off x="819150" y="42481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2B928"/>
                </a:solidFill>
              </a:defRPr>
            </a:pPr>
            <a:r>
              <a:rPr sz="1650" b="1">
                <a:solidFill>
                  <a:srgbClr val="F2B928"/>
                </a:solidFill>
              </a:rPr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DA1969-3F78-49BC-96D9-4D4DAEBCE6CA}"/>
              </a:ext>
            </a:extLst>
          </p:cNvPr>
          <p:cNvSpPr>
            <a:spLocks noGrp="1"/>
          </p:cNvSpPr>
          <p:nvPr/>
        </p:nvSpPr>
        <p:spPr>
          <a:xfrm>
            <a:off x="1352550" y="424815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Wait for the success confirmation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FB3D15-AF63-46F5-8010-1BCCA9EEAC39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3619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2B928"/>
                </a:solidFill>
              </a:defRPr>
            </a:pPr>
            <a:r>
              <a:rPr sz="1650" b="1">
                <a:solidFill>
                  <a:srgbClr val="F2B928"/>
                </a:solidFill>
              </a:rPr>
              <a:t>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125186-F65E-472E-AD31-876B784A178D}"/>
              </a:ext>
            </a:extLst>
          </p:cNvPr>
          <p:cNvSpPr>
            <a:spLocks noGrp="1"/>
          </p:cNvSpPr>
          <p:nvPr/>
        </p:nvSpPr>
        <p:spPr>
          <a:xfrm>
            <a:off x="1352550" y="4895850"/>
            <a:ext cx="685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Sign out on shared devices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3B7888B-4D60-4DFB-9954-6474ED598403}"/>
              </a:ext>
            </a:extLst>
          </p:cNvPr>
          <p:cNvSpPr>
            <a:spLocks noGrp="1"/>
          </p:cNvSpPr>
          <p:nvPr/>
        </p:nvSpPr>
        <p:spPr>
          <a:xfrm>
            <a:off x="8591550" y="2171700"/>
            <a:ext cx="2628900" cy="2476500"/>
          </a:xfrm>
          <a:prstGeom prst="roundRect">
            <a:avLst>
              <a:gd name="adj" fmla="val 4615"/>
            </a:avLst>
          </a:prstGeom>
          <a:solidFill>
            <a:srgbClr val="0F477B"/>
          </a:solidFill>
          <a:ln w="9525">
            <a:solidFill>
              <a:srgbClr val="2D619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7D32BD-9AB2-4BE4-B75F-4A37160BA288}"/>
              </a:ext>
            </a:extLst>
          </p:cNvPr>
          <p:cNvSpPr>
            <a:spLocks noGrp="1"/>
          </p:cNvSpPr>
          <p:nvPr/>
        </p:nvSpPr>
        <p:spPr>
          <a:xfrm>
            <a:off x="8858250" y="25146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75" b="1">
                <a:solidFill>
                  <a:srgbClr val="F2B928"/>
                </a:solidFill>
              </a:defRPr>
            </a:pPr>
            <a:r>
              <a:rPr sz="1875" b="1">
                <a:solidFill>
                  <a:srgbClr val="F2B928"/>
                </a:solidFill>
              </a:rPr>
              <a:t>Need help?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C48AD3-783F-4229-B531-7DFB37DA66B1}"/>
              </a:ext>
            </a:extLst>
          </p:cNvPr>
          <p:cNvSpPr>
            <a:spLocks noGrp="1"/>
          </p:cNvSpPr>
          <p:nvPr/>
        </p:nvSpPr>
        <p:spPr>
          <a:xfrm>
            <a:off x="8877300" y="3086100"/>
            <a:ext cx="20574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Contact your officer or administrator with the page name and a screenshot.</a:t>
            </a:r>
          </a:p>
        </p:txBody>
      </p:sp>
    </p:spTree>
    <p:extLst>
      <p:ext uri="{BB962C8B-B14F-4D97-AF65-F5344CB8AC3E}">
        <p14:creationId xmlns:p14="http://schemas.microsoft.com/office/powerpoint/2010/main" val="3433638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956</Words>
  <Application>Microsoft Macintosh PowerPoint</Application>
  <DocSecurity>0</DocSecurity>
  <PresentationFormat>Widescreen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Nathan Ngu</cp:lastModifiedBy>
  <cp:revision>1</cp:revision>
  <dcterms:created xsi:type="dcterms:W3CDTF">2026-08-22T10:58:02Z</dcterms:created>
  <dcterms:modified xsi:type="dcterms:W3CDTF">2026-08-22T13:23:31Z</dcterms:modified>
</cp:coreProperties>
</file>