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2146594fe847d7" /><Relationship Type="http://schemas.openxmlformats.org/officeDocument/2006/relationships/extended-properties" Target="/docProps/app.xml" Id="Rf9b4184240244579" /><Relationship Type="http://schemas.openxmlformats.org/officeDocument/2006/relationships/officeDocument" Target="/ppt/presentation.xml" Id="R40f5aafdcd4142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49810d22ac4390"/>
  </p:sldMasterIdLst>
  <p:notesMasterIdLst>
    <p:notesMasterId xmlns:r="http://schemas.openxmlformats.org/officeDocument/2006/relationships" r:id="R4c08eda1dc2242c7"/>
  </p:notesMasterIdLst>
  <p:sldIdLst>
    <p:sldId xmlns:r="http://schemas.openxmlformats.org/officeDocument/2006/relationships" id="256" r:id="R3054ed4b80464931"/>
    <p:sldId xmlns:r="http://schemas.openxmlformats.org/officeDocument/2006/relationships" id="257" r:id="R624360fc2d1a498e"/>
    <p:sldId xmlns:r="http://schemas.openxmlformats.org/officeDocument/2006/relationships" id="258" r:id="Rd385fb013885451a"/>
    <p:sldId xmlns:r="http://schemas.openxmlformats.org/officeDocument/2006/relationships" id="259" r:id="Rdc12335d3a874f5b"/>
    <p:sldId xmlns:r="http://schemas.openxmlformats.org/officeDocument/2006/relationships" id="260" r:id="Rd3fffec5a5aa4db8"/>
    <p:sldId xmlns:r="http://schemas.openxmlformats.org/officeDocument/2006/relationships" id="261" r:id="R20d2721198b34c69"/>
    <p:sldId xmlns:r="http://schemas.openxmlformats.org/officeDocument/2006/relationships" id="262" r:id="R3b010ab65adb430c"/>
    <p:sldId xmlns:r="http://schemas.openxmlformats.org/officeDocument/2006/relationships" id="263" r:id="R9259652d991b4542"/>
    <p:sldId xmlns:r="http://schemas.openxmlformats.org/officeDocument/2006/relationships" id="264" r:id="Rcef75fdc0968479c"/>
    <p:sldId xmlns:r="http://schemas.openxmlformats.org/officeDocument/2006/relationships" id="265" r:id="R6d76a4eb62f04761"/>
    <p:sldId xmlns:r="http://schemas.openxmlformats.org/officeDocument/2006/relationships" id="266" r:id="Rdf4136952707444f"/>
    <p:sldId xmlns:r="http://schemas.openxmlformats.org/officeDocument/2006/relationships" id="267" r:id="Rf0f9ed9930aa4562"/>
    <p:sldId xmlns:r="http://schemas.openxmlformats.org/officeDocument/2006/relationships" id="268" r:id="R6c2d3388bf514a00"/>
    <p:sldId xmlns:r="http://schemas.openxmlformats.org/officeDocument/2006/relationships" id="269" r:id="Rc2ea2c6d81e2410b"/>
    <p:sldId xmlns:r="http://schemas.openxmlformats.org/officeDocument/2006/relationships" id="270" r:id="Rab434c6a7dec4a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3af967df5d41a7" /><Relationship Type="http://schemas.openxmlformats.org/officeDocument/2006/relationships/slideMaster" Target="/ppt/slideMasters/slideMaster1.xml" Id="R7449810d22ac4390" /><Relationship Type="http://schemas.openxmlformats.org/officeDocument/2006/relationships/notesMaster" Target="/ppt/notesMasters/notesMaster1.xml" Id="R4c08eda1dc2242c7" /><Relationship Type="http://schemas.openxmlformats.org/officeDocument/2006/relationships/presProps" Target="/ppt/presProps.xml" Id="Rb4a294e91d3a4844" /><Relationship Type="http://schemas.openxmlformats.org/officeDocument/2006/relationships/tableStyles" Target="/ppt/tableStyles.xml" Id="Ra83b204848b44cb8" /><Relationship Type="http://schemas.openxmlformats.org/officeDocument/2006/relationships/slide" Target="/ppt/slides/slide1.xml" Id="R3054ed4b80464931" /><Relationship Type="http://schemas.openxmlformats.org/officeDocument/2006/relationships/slide" Target="/ppt/slides/slide2.xml" Id="R624360fc2d1a498e" /><Relationship Type="http://schemas.openxmlformats.org/officeDocument/2006/relationships/slide" Target="/ppt/slides/slide3.xml" Id="Rd385fb013885451a" /><Relationship Type="http://schemas.openxmlformats.org/officeDocument/2006/relationships/slide" Target="/ppt/slides/slide4.xml" Id="Rdc12335d3a874f5b" /><Relationship Type="http://schemas.openxmlformats.org/officeDocument/2006/relationships/slide" Target="/ppt/slides/slide5.xml" Id="Rd3fffec5a5aa4db8" /><Relationship Type="http://schemas.openxmlformats.org/officeDocument/2006/relationships/slide" Target="/ppt/slides/slide6.xml" Id="R20d2721198b34c69" /><Relationship Type="http://schemas.openxmlformats.org/officeDocument/2006/relationships/slide" Target="/ppt/slides/slide7.xml" Id="R3b010ab65adb430c" /><Relationship Type="http://schemas.openxmlformats.org/officeDocument/2006/relationships/slide" Target="/ppt/slides/slide8.xml" Id="R9259652d991b4542" /><Relationship Type="http://schemas.openxmlformats.org/officeDocument/2006/relationships/slide" Target="/ppt/slides/slide9.xml" Id="Rcef75fdc0968479c" /><Relationship Type="http://schemas.openxmlformats.org/officeDocument/2006/relationships/slide" Target="/ppt/slides/slide10.xml" Id="R6d76a4eb62f04761" /><Relationship Type="http://schemas.openxmlformats.org/officeDocument/2006/relationships/slide" Target="/ppt/slides/slide11.xml" Id="Rdf4136952707444f" /><Relationship Type="http://schemas.openxmlformats.org/officeDocument/2006/relationships/slide" Target="/ppt/slides/slide12.xml" Id="Rf0f9ed9930aa4562" /><Relationship Type="http://schemas.openxmlformats.org/officeDocument/2006/relationships/slide" Target="/ppt/slides/slide13.xml" Id="R6c2d3388bf514a00" /><Relationship Type="http://schemas.openxmlformats.org/officeDocument/2006/relationships/slide" Target="/ppt/slides/slide14.xml" Id="Rc2ea2c6d81e2410b" /><Relationship Type="http://schemas.openxmlformats.org/officeDocument/2006/relationships/slide" Target="/ppt/slides/slide15.xml" Id="Rab434c6a7dec4a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1ce58f6daf45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f001527b6646ec" /><Relationship Type="http://schemas.openxmlformats.org/officeDocument/2006/relationships/notesMaster" Target="/ppt/notesMasters/notesMaster1.xml" Id="R057d44418e6942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2162514d554fff" /><Relationship Type="http://schemas.openxmlformats.org/officeDocument/2006/relationships/notesMaster" Target="/ppt/notesMasters/notesMaster1.xml" Id="Rd9d8f9847f554a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68b3d55c964325" /><Relationship Type="http://schemas.openxmlformats.org/officeDocument/2006/relationships/notesMaster" Target="/ppt/notesMasters/notesMaster1.xml" Id="R2039c29076a84e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cacb3311fa4438" /><Relationship Type="http://schemas.openxmlformats.org/officeDocument/2006/relationships/notesMaster" Target="/ppt/notesMasters/notesMaster1.xml" Id="R6a643536bc9a4d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89c64a2e1e4c4c" /><Relationship Type="http://schemas.openxmlformats.org/officeDocument/2006/relationships/notesMaster" Target="/ppt/notesMasters/notesMaster1.xml" Id="R8cd921f753c643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548344566e4bba" /><Relationship Type="http://schemas.openxmlformats.org/officeDocument/2006/relationships/notesMaster" Target="/ppt/notesMasters/notesMaster1.xml" Id="R1bf72ed3df8246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ec48477cf645bd" /><Relationship Type="http://schemas.openxmlformats.org/officeDocument/2006/relationships/notesMaster" Target="/ppt/notesMasters/notesMaster1.xml" Id="R9fe74ec0394549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605a4a7c8c41ea" /><Relationship Type="http://schemas.openxmlformats.org/officeDocument/2006/relationships/notesMaster" Target="/ppt/notesMasters/notesMaster1.xml" Id="R12f62c2a864e4d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b4860072434c6c" /><Relationship Type="http://schemas.openxmlformats.org/officeDocument/2006/relationships/notesMaster" Target="/ppt/notesMasters/notesMaster1.xml" Id="R1a5bda880ee44d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ff8e40ce70470f" /><Relationship Type="http://schemas.openxmlformats.org/officeDocument/2006/relationships/notesMaster" Target="/ppt/notesMasters/notesMaster1.xml" Id="R2151f260055c43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675a4c74f69411a" /><Relationship Type="http://schemas.openxmlformats.org/officeDocument/2006/relationships/notesMaster" Target="/ppt/notesMasters/notesMaster1.xml" Id="R91e22bda274540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72e16dfd63c4097" /><Relationship Type="http://schemas.openxmlformats.org/officeDocument/2006/relationships/notesMaster" Target="/ppt/notesMasters/notesMaster1.xml" Id="Rc7e43af8dfcd49a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bb2fba62f6b41c1" /><Relationship Type="http://schemas.openxmlformats.org/officeDocument/2006/relationships/notesMaster" Target="/ppt/notesMasters/notesMaster1.xml" Id="R667c934979bc4b3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d5f02673ab044cf" /><Relationship Type="http://schemas.openxmlformats.org/officeDocument/2006/relationships/notesMaster" Target="/ppt/notesMasters/notesMaster1.xml" Id="Rf3aeaead32f3435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a12915d964d4577" /><Relationship Type="http://schemas.openxmlformats.org/officeDocument/2006/relationships/notesMaster" Target="/ppt/notesMasters/notesMaster1.xml" Id="R4470fc0accfb4a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af35b3188342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86389300eb4d6d" /><Relationship Type="http://schemas.openxmlformats.org/officeDocument/2006/relationships/slideLayout" Target="/ppt/slideLayouts/slideLayout1.xml" Id="Rd8020c60c7344e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020c60c7344e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b88ea14c694af2" /><Relationship Type="http://schemas.openxmlformats.org/officeDocument/2006/relationships/notesSlide" Target="/ppt/notesSlides/notesSlide1.xml" Id="Ra57a2cd5fea144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9dc5944794594" /><Relationship Type="http://schemas.openxmlformats.org/officeDocument/2006/relationships/notesSlide" Target="/ppt/notesSlides/notesSlide2.xml" Id="R944a7af3ff4946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098542a781460d" /><Relationship Type="http://schemas.openxmlformats.org/officeDocument/2006/relationships/notesSlide" Target="/ppt/notesSlides/notesSlide3.xml" Id="Rdde0e3ce220246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d47595e9647a1" /><Relationship Type="http://schemas.openxmlformats.org/officeDocument/2006/relationships/notesSlide" Target="/ppt/notesSlides/notesSlide4.xml" Id="R7ec0b5bccb8142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cee9cede04cd0" /><Relationship Type="http://schemas.openxmlformats.org/officeDocument/2006/relationships/image" Target="/ppt/media/image.jpeg" Id="Rce9410841b2b48ea" /><Relationship Type="http://schemas.openxmlformats.org/officeDocument/2006/relationships/notesSlide" Target="/ppt/notesSlides/notesSlide5.xml" Id="R3d192171a80047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ca3b5b5bc4c6f" /><Relationship Type="http://schemas.openxmlformats.org/officeDocument/2006/relationships/notesSlide" Target="/ppt/notesSlides/notesSlide6.xml" Id="Rd1b8e188af4844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68d619bac4fda" /><Relationship Type="http://schemas.openxmlformats.org/officeDocument/2006/relationships/notesSlide" Target="/ppt/notesSlides/notesSlide7.xml" Id="R2e61346c2ade49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88d8fb3d446d3" /><Relationship Type="http://schemas.openxmlformats.org/officeDocument/2006/relationships/notesSlide" Target="/ppt/notesSlides/notesSlide8.xml" Id="Rd598d75e0caf41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430d4072c4b7f" /><Relationship Type="http://schemas.openxmlformats.org/officeDocument/2006/relationships/notesSlide" Target="/ppt/notesSlides/notesSlide9.xml" Id="Rf25c3567f34c41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8b0022b974bc0" /><Relationship Type="http://schemas.openxmlformats.org/officeDocument/2006/relationships/image" Target="/ppt/media/image2.jpeg" Id="R4368a58406e24990" /><Relationship Type="http://schemas.openxmlformats.org/officeDocument/2006/relationships/notesSlide" Target="/ppt/notesSlides/notesSlide10.xml" Id="R7c24cf28ad7f41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1c5119afb4e95" /><Relationship Type="http://schemas.openxmlformats.org/officeDocument/2006/relationships/notesSlide" Target="/ppt/notesSlides/notesSlide11.xml" Id="Rf460e13d6e274d1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b17740156446d" /><Relationship Type="http://schemas.openxmlformats.org/officeDocument/2006/relationships/image" Target="/ppt/media/image3.jpeg" Id="R824aeb02d57a429a" /><Relationship Type="http://schemas.openxmlformats.org/officeDocument/2006/relationships/notesSlide" Target="/ppt/notesSlides/notesSlide12.xml" Id="R2c6ec66e954145d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c833995d84dcf" /><Relationship Type="http://schemas.openxmlformats.org/officeDocument/2006/relationships/notesSlide" Target="/ppt/notesSlides/notesSlide13.xml" Id="R345ffa37b48e415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fae860d1b4d30" /><Relationship Type="http://schemas.openxmlformats.org/officeDocument/2006/relationships/notesSlide" Target="/ppt/notesSlides/notesSlide14.xml" Id="Rc36667d59b0940a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7aaf84c274878" /><Relationship Type="http://schemas.openxmlformats.org/officeDocument/2006/relationships/notesSlide" Target="/ppt/notesSlides/notesSlide15.xml" Id="Rf74d24bfb5cb46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34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27894-4898-47E7-9159-31DE9FDB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28"/>
          </a:solidFill>
          <a:ln xmlns:a="http://schemas.openxmlformats.org/drawingml/2006/main" w="0">
            <a:solidFill>
              <a:srgbClr val="F2B92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CE5A1-5C34-4BD1-AD6E-64CEE4A7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48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B928"/>
                </a:solidFill>
              </a:defRPr>
            </a:pPr>
            <a:r>
              <a:rPr sz="1125" b="1">
                <a:solidFill>
                  <a:srgbClr val="F2B928"/>
                </a:solidFill>
              </a:rPr>
              <a:t>BB 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559A4-E348-40BD-B635-FD0D92D3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685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Use the app with confidence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0FCEA-5DCD-479D-933D-CB76E68E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647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8E8F7"/>
                </a:solidFill>
              </a:defRPr>
            </a:pPr>
            <a:r>
              <a:rPr sz="1725" b="0">
                <a:solidFill>
                  <a:srgbClr val="D8E8F7"/>
                </a:solidFill>
              </a:rPr>
              <a:t>A practical guide for members, NCOs, squad leaders, officers, administrators and quartermasters.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B6ADA-5F21-48F6-BD59-B9281764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287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77B"/>
          </a:solidFill>
          <a:ln xmlns:a="http://schemas.openxmlformats.org/drawingml/2006/main" w="19050">
            <a:solidFill>
              <a:srgbClr val="2D619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763B7-DEAE-44D2-9F89-B4015508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7645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2B928"/>
                </a:solidFill>
              </a:defRPr>
            </a:pPr>
            <a:r>
              <a:rPr sz="3900" b="1">
                <a:solidFill>
                  <a:srgbClr val="F2B928"/>
                </a:solidFill>
              </a:rPr>
              <a:t>B 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5CA2A7-4844-42B5-931E-EE15EEB1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765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COMPANY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OPERATIONS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45840-1EF8-440A-9933-A191DBD2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626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8DF"/>
                </a:solidFill>
              </a:defRPr>
            </a:pPr>
            <a:r>
              <a:rPr sz="1200" b="0">
                <a:solidFill>
                  <a:srgbClr val="AFC8DF"/>
                </a:solidFill>
              </a:rPr>
              <a:t>Tutorial • August 2026</a:t>
            </a:r>
          </a:p>
        </p:txBody>
      </p:sp>
    </p:spTree>
    <p:extLst>
      <p:ext uri="{BB962C8B-B14F-4D97-AF65-F5344CB8AC3E}">
        <p14:creationId xmlns:p14="http://schemas.microsoft.com/office/powerpoint/2010/main" val="18437428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25CDBB-ECCF-4700-998F-DC0DBACE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45F"/>
          </a:solidFill>
          <a:ln xmlns:a="http://schemas.openxmlformats.org/drawingml/2006/main" w="0">
            <a:solidFill>
              <a:srgbClr val="0834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FAB372-AE01-487A-A79B-4164BE22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4D1"/>
                </a:solidFill>
              </a:defRPr>
            </a:pPr>
            <a:r>
              <a:rPr sz="975" b="1">
                <a:solidFill>
                  <a:srgbClr val="1674D1"/>
                </a:solidFill>
              </a:rPr>
              <a:t>START HERE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73E13F-F04C-4368-B134-FB94682C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A8BF5-11EE-41C1-9956-4096561D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4630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28"/>
          </a:solidFill>
          <a:ln xmlns:a="http://schemas.openxmlformats.org/drawingml/2006/main" w="0">
            <a:solidFill>
              <a:srgbClr val="F2B92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B99FD-BC62-43A1-8675-C61182D6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345F"/>
                </a:solidFill>
              </a:defRPr>
            </a:pPr>
            <a:r>
              <a:rPr sz="2925" b="1">
                <a:solidFill>
                  <a:srgbClr val="08345F"/>
                </a:solidFill>
              </a:rPr>
              <a:t>The app is organised around four work hubs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562312-4288-482D-978E-7FFECBC9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Start with the hub that matches what you want to 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39406-CF2B-45A3-A26C-C678B5A1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5527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3FC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7E760-D088-4595-A79C-D2721F73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4D1"/>
                </a:solidFill>
              </a:defRPr>
            </a:pPr>
            <a:r>
              <a:rPr sz="1800" b="1">
                <a:solidFill>
                  <a:srgbClr val="1674D1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F07A3-CF69-41FD-867B-BF96BB40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345F"/>
                </a:solidFill>
              </a:defRPr>
            </a:pPr>
            <a:r>
              <a:rPr sz="1725" b="1">
                <a:solidFill>
                  <a:srgbClr val="08345F"/>
                </a:solidFill>
              </a:rPr>
              <a:t>HOME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1B220-7E18-47F1-90CB-A789E191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209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Priorities, notifications and quick actions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2B0F53-9DA8-416A-BFA9-7A941CBF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25527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F8B4BD-FCD9-4A5C-B558-FD0F9893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241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345F"/>
                </a:solidFill>
              </a:defRPr>
            </a:pPr>
            <a:r>
              <a:rPr sz="1800" b="1">
                <a:solidFill>
                  <a:srgbClr val="08345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EBA9BE-78CF-467B-95F5-1ADD66D9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14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345F"/>
                </a:solidFill>
              </a:defRPr>
            </a:pPr>
            <a:r>
              <a:rPr sz="1725" b="1">
                <a:solidFill>
                  <a:srgbClr val="08345F"/>
                </a:solidFill>
              </a:rPr>
              <a:t>PEOPLE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FDE0D1-7454-4954-A1D2-409BAB73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52800"/>
            <a:ext cx="209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Members, awards, attendance and progress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107126-644E-42BB-8ED6-978C4BCD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25527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5F2B99-DC7A-4DC6-828F-EFCE42EF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241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345F"/>
                </a:solidFill>
              </a:defRPr>
            </a:pPr>
            <a:r>
              <a:rPr sz="1800" b="1">
                <a:solidFill>
                  <a:srgbClr val="08345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637A5E-B154-43DD-8409-7829BC15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14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345F"/>
                </a:solidFill>
              </a:defRPr>
            </a:pPr>
            <a:r>
              <a:rPr sz="1725" b="1">
                <a:solidFill>
                  <a:srgbClr val="08345F"/>
                </a:solidFill>
              </a:rPr>
              <a:t>PROGRAMME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EBBFDB-334B-4C62-832C-9AD333F4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52800"/>
            <a:ext cx="209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Meetings, duties, resources and notices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0B7775-EAC2-429C-96B1-CC350360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25527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95A162-030F-407F-AF29-22A68C72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241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345F"/>
                </a:solidFill>
              </a:defRPr>
            </a:pPr>
            <a:r>
              <a:rPr sz="1800" b="1">
                <a:solidFill>
                  <a:srgbClr val="08345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6B4B46-973E-481E-882F-3EFEA703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14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345F"/>
                </a:solidFill>
              </a:defRPr>
            </a:pPr>
            <a:r>
              <a:rPr sz="1725" b="1">
                <a:solidFill>
                  <a:srgbClr val="08345F"/>
                </a:solidFill>
              </a:rPr>
              <a:t>MANAGE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4743A1-9B4D-4914-A631-1C2C8419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352800"/>
            <a:ext cx="209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Requests, stock, accounts and reports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AD53C6-077C-4B44-AAF8-8E34111A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The Senior / Junior switch stays at the top of navigation.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C0A8EB-F646-41BA-9753-ABC06ED4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Only pages allowed for your role appear.</a:t>
            </a:r>
          </a:p>
        </p:txBody>
      </p:sp>
    </p:spTree>
    <p:extLst>
      <p:ext uri="{BB962C8B-B14F-4D97-AF65-F5344CB8AC3E}">
        <p14:creationId xmlns:p14="http://schemas.microsoft.com/office/powerpoint/2010/main" val="5074578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CDA138-B71B-410D-8ADE-D4555202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45F"/>
          </a:solidFill>
          <a:ln xmlns:a="http://schemas.openxmlformats.org/drawingml/2006/main" w="0">
            <a:solidFill>
              <a:srgbClr val="0834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D6608-2C63-40B1-A1E5-8C2DADF4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4D1"/>
                </a:solidFill>
              </a:defRPr>
            </a:pPr>
            <a:r>
              <a:rPr sz="975" b="1">
                <a:solidFill>
                  <a:srgbClr val="1674D1"/>
                </a:solidFill>
              </a:rPr>
              <a:t>ACCOUNT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510F6-6292-4F88-AB21-19BD05AC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1FAEF-5D77-419C-84A0-4664A74C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19456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28"/>
          </a:solidFill>
          <a:ln xmlns:a="http://schemas.openxmlformats.org/drawingml/2006/main" w="0">
            <a:solidFill>
              <a:srgbClr val="F2B92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86257D-ACE8-49C9-9374-75DB99C9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345F"/>
                </a:solidFill>
              </a:defRPr>
            </a:pPr>
            <a:r>
              <a:rPr sz="2925" b="1">
                <a:solidFill>
                  <a:srgbClr val="08345F"/>
                </a:solidFill>
              </a:rPr>
              <a:t>Sign in once, then secure your account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DC8C37-289B-4142-927C-557C36DE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Temporary passwords are only for the first login.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53B783-46D3-4A10-BF43-28325584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345F"/>
          </a:solidFill>
          <a:ln xmlns:a="http://schemas.openxmlformats.org/drawingml/2006/main" w="0">
            <a:solidFill>
              <a:srgbClr val="0834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D5A248-7365-4C22-9A29-8895CA95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70F2C9-D038-4FA9-9874-C2911CBA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152650"/>
            <a:ext cx="398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Enter your email and temporary password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F1F8B9-4E7F-405C-B53E-5A516580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3981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Use the details created by an administrator.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A8CCF9-937F-43DF-AC9F-2F98E23C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345F"/>
          </a:solidFill>
          <a:ln xmlns:a="http://schemas.openxmlformats.org/drawingml/2006/main" w="0">
            <a:solidFill>
              <a:srgbClr val="0834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6BB5C1-9251-45A3-B37A-A0B67A87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4FAE8C-BFCC-4511-947D-012FB2C0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52800"/>
            <a:ext cx="398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Create a new private password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452F78-0146-4225-BC9D-FB01AF8A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676650"/>
            <a:ext cx="3981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Choose at least 10 characters and do not share 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13C681-C4E5-4AE2-B6D5-65584E8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345F"/>
          </a:solidFill>
          <a:ln xmlns:a="http://schemas.openxmlformats.org/drawingml/2006/main" w="0">
            <a:solidFill>
              <a:srgbClr val="0834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84651F-A00E-44DF-AC80-C410B8CE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FEDB9D-1A69-4750-B277-10154E63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52950"/>
            <a:ext cx="398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Review your linked profile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6F5F9F-C545-4098-BF13-E521FAD5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76800"/>
            <a:ext cx="3981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Report incorrect details through a correction request.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FC80F4-7E39-42AF-83A5-3F2E479F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95500"/>
            <a:ext cx="440055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FF9E8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E84E1F-4693-450B-9A3C-2BB9A102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00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345F"/>
                </a:solidFill>
              </a:defRPr>
            </a:pPr>
            <a:r>
              <a:rPr sz="1875" b="1">
                <a:solidFill>
                  <a:srgbClr val="08345F"/>
                </a:solidFill>
              </a:rPr>
              <a:t>Good practice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617448-C496-4192-A48B-1717BBC3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952750"/>
            <a:ext cx="33718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• Sign out on shared devices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• Never share temporary or new passwords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• Contact an officer if the wrong profile appears</a:t>
            </a:r>
          </a:p>
        </p:txBody>
      </p:sp>
    </p:spTree>
    <p:extLst>
      <p:ext uri="{BB962C8B-B14F-4D97-AF65-F5344CB8AC3E}">
        <p14:creationId xmlns:p14="http://schemas.microsoft.com/office/powerpoint/2010/main" val="21269335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4A24FA-2045-4A65-B4D7-DE84F72C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45F"/>
          </a:solidFill>
          <a:ln xmlns:a="http://schemas.openxmlformats.org/drawingml/2006/main" w="0">
            <a:solidFill>
              <a:srgbClr val="0834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1E4E0-92BF-4BED-B4D5-A80D13CA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4D1"/>
                </a:solidFill>
              </a:defRPr>
            </a:pPr>
            <a:r>
              <a:rPr sz="975" b="1">
                <a:solidFill>
                  <a:srgbClr val="1674D1"/>
                </a:solidFill>
              </a:rPr>
              <a:t>NAVIGATION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A78B8-174F-4047-9835-FF66B3D0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93E6E-9ADA-49F3-996B-3DA85559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9260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28"/>
          </a:solidFill>
          <a:ln xmlns:a="http://schemas.openxmlformats.org/drawingml/2006/main" w="0">
            <a:solidFill>
              <a:srgbClr val="F2B92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2CC433-B123-45F2-B427-1E38338D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345F"/>
                </a:solidFill>
              </a:defRPr>
            </a:pPr>
            <a:r>
              <a:rPr sz="2925" b="1">
                <a:solidFill>
                  <a:srgbClr val="08345F"/>
                </a:solidFill>
              </a:rPr>
              <a:t>Choose the section before you begin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022AC-9054-473B-8516-4C7D2DC3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The selected section controls the records and tools you see.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A07A2-3BC8-4EB8-92AD-5D5DD140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8345F"/>
          </a:solidFill>
          <a:ln xmlns:a="http://schemas.openxmlformats.org/drawingml/2006/main" w="9525">
            <a:solidFill>
              <a:srgbClr val="0834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25C64F-4F19-41DE-B47B-C3CC2A6C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Senior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A5128F-6B7B-48E9-ACAF-F53E88B4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955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136DD8-2EDC-47FD-9ACA-5FD2545E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90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Junior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CFE869-E261-4915-8769-08581448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4D1"/>
                </a:solidFill>
              </a:defRPr>
            </a:pPr>
            <a:r>
              <a:rPr sz="1800" b="1">
                <a:solidFill>
                  <a:srgbClr val="1674D1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8FEDC-0418-4631-AA7D-82A09612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051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Select Senior or Junior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19B848-056A-48BC-B120-A3307E07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4D1"/>
                </a:solidFill>
              </a:defRPr>
            </a:pPr>
            <a:r>
              <a:rPr sz="1800" b="1">
                <a:solidFill>
                  <a:srgbClr val="1674D1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438A31-F301-466F-8769-E5325761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909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Open a work hub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E24041-9BDB-4AE4-9718-05DDA0B9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4D1"/>
                </a:solidFill>
              </a:defRPr>
            </a:pPr>
            <a:r>
              <a:rPr sz="1800" b="1">
                <a:solidFill>
                  <a:srgbClr val="1674D1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3D7C3A-F1B5-4C0B-96C8-C6861CAA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7672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Choose the page from the top tabs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F26EF8-0428-408C-8215-12F54DCE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76450"/>
            <a:ext cx="445770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A1517B-F275-47EA-914E-B7E1829C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43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345F"/>
                </a:solidFill>
              </a:defRPr>
            </a:pPr>
            <a:r>
              <a:rPr sz="1500" b="1">
                <a:solidFill>
                  <a:srgbClr val="08345F"/>
                </a:solidFill>
              </a:rPr>
              <a:t>Desktop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B69EC8-99E8-45F0-B2DF-DD14BB2A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860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Use the left sidebar and contextual tabs.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2BB41F-3584-448F-8F3D-4CA15ADF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43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345F"/>
                </a:solidFill>
              </a:defRPr>
            </a:pPr>
            <a:r>
              <a:rPr sz="1500" b="1">
                <a:solidFill>
                  <a:srgbClr val="08345F"/>
                </a:solidFill>
              </a:rPr>
              <a:t>Mobile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6662AF-767A-43FB-A1CC-34CC8489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86200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Use the five bottom buttons. Open More for secondary tools.</a:t>
            </a:r>
          </a:p>
        </p:txBody>
      </p:sp>
    </p:spTree>
    <p:extLst>
      <p:ext uri="{BB962C8B-B14F-4D97-AF65-F5344CB8AC3E}">
        <p14:creationId xmlns:p14="http://schemas.microsoft.com/office/powerpoint/2010/main" val="9866006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18850B-EECF-40E4-8331-15E0463B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45F"/>
          </a:solidFill>
          <a:ln xmlns:a="http://schemas.openxmlformats.org/drawingml/2006/main" w="0">
            <a:solidFill>
              <a:srgbClr val="0834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CF650-8E7A-4D54-8227-CA0ADDF0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4D1"/>
                </a:solidFill>
              </a:defRPr>
            </a:pPr>
            <a:r>
              <a:rPr sz="975" b="1">
                <a:solidFill>
                  <a:srgbClr val="1674D1"/>
                </a:solidFill>
              </a:rPr>
              <a:t>HOME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EDFA8-10FC-41DA-9BA9-CE90F6DD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7DF2D-5C02-4867-8817-1AA14932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65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28"/>
          </a:solidFill>
          <a:ln xmlns:a="http://schemas.openxmlformats.org/drawingml/2006/main" w="0">
            <a:solidFill>
              <a:srgbClr val="F2B92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838FC-A654-4846-B09C-4910E255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345F"/>
                </a:solidFill>
              </a:defRPr>
            </a:pPr>
            <a:r>
              <a:rPr sz="2925" b="1">
                <a:solidFill>
                  <a:srgbClr val="08345F"/>
                </a:solidFill>
              </a:rPr>
              <a:t>Home shows what needs your attention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B6BAEF-CFCF-4F57-9FF5-F4AB144D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Counts and tasks update automatically after work is completed.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9410841b2b48ea"/>
          <a:srcRect xmlns:a="http://schemas.openxmlformats.org/drawingml/2006/main" l="5152" t="0" r="51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000250"/>
            <a:ext cx="657225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352C07-A8E5-4C19-BDBD-C243459B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14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345F"/>
                </a:solidFill>
              </a:defRPr>
            </a:pPr>
            <a:r>
              <a:rPr sz="1800" b="1">
                <a:solidFill>
                  <a:srgbClr val="08345F"/>
                </a:solidFill>
              </a:rPr>
              <a:t>Use Home 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7C087-C1CE-4C89-9E26-C278FA1F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47950"/>
            <a:ext cx="3238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• Open urgent tasks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• Read notifications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• Jump to common actions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• Open resources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90458D-641F-44CC-ACB6-1CDCFB9F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4350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Tip: a task disappears when the underlying work is completed.</a:t>
            </a:r>
          </a:p>
        </p:txBody>
      </p:sp>
    </p:spTree>
    <p:extLst>
      <p:ext uri="{BB962C8B-B14F-4D97-AF65-F5344CB8AC3E}">
        <p14:creationId xmlns:p14="http://schemas.microsoft.com/office/powerpoint/2010/main" val="17956491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17F071-4F15-4B6B-9D0D-777677F0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45F"/>
          </a:solidFill>
          <a:ln xmlns:a="http://schemas.openxmlformats.org/drawingml/2006/main" w="0">
            <a:solidFill>
              <a:srgbClr val="0834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F30FE-2605-414B-8BC9-EA577DBC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4D1"/>
                </a:solidFill>
              </a:defRPr>
            </a:pPr>
            <a:r>
              <a:rPr sz="975" b="1">
                <a:solidFill>
                  <a:srgbClr val="1674D1"/>
                </a:solidFill>
              </a:rPr>
              <a:t>MEMBERS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E2C75-085A-4B18-99E2-85346640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4276A-DF02-4BD6-BD13-A7FCE6DD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38912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28"/>
          </a:solidFill>
          <a:ln xmlns:a="http://schemas.openxmlformats.org/drawingml/2006/main" w="0">
            <a:solidFill>
              <a:srgbClr val="F2B92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1BB6D8-1615-46F0-8FA3-9A1E0FE7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345F"/>
                </a:solidFill>
              </a:defRPr>
            </a:pPr>
            <a:r>
              <a:rPr sz="2925" b="1">
                <a:solidFill>
                  <a:srgbClr val="08345F"/>
                </a:solidFill>
              </a:rPr>
              <a:t>Members can track progress without changing official records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06C234-FE60-4546-AD0B-30D9C39E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Your account only shows your own data and permitted resources.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756A00-EE51-49D9-8426-6F5C5100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4D1"/>
                </a:solidFill>
              </a:defRPr>
            </a:pPr>
            <a:r>
              <a:rPr sz="1275" b="1">
                <a:solidFill>
                  <a:srgbClr val="1674D1"/>
                </a:solidFill>
              </a:rPr>
              <a:t>MY PROGRESS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CF99B9-5AB7-4B9A-A587-53EA7127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955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Attendance percentage and award 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1295D6-860C-4373-90AC-225A41FA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3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26591F-5CD6-4494-8CED-11F3B6EB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4D1"/>
                </a:solidFill>
              </a:defRPr>
            </a:pPr>
            <a:r>
              <a:rPr sz="1275" b="1">
                <a:solidFill>
                  <a:srgbClr val="1674D1"/>
                </a:solidFill>
              </a:rPr>
              <a:t>MY REQUESTS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D3512E-4155-4A8E-A96A-732CDF35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146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Award applications and uniform requests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DBBFDF-53BB-4A08-9244-40039B13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3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EA31A8-B3C1-485B-988D-D44F3C61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4D1"/>
                </a:solidFill>
              </a:defRPr>
            </a:pPr>
            <a:r>
              <a:rPr sz="1275" b="1">
                <a:solidFill>
                  <a:srgbClr val="1674D1"/>
                </a:solidFill>
              </a:rPr>
              <a:t>MY ITEMS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38C60F-1B23-4968-864F-0F17F709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338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Uniforms and awards issued to you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80FCB8-6DC1-48FE-900F-4A16C330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3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1A1318-A2E6-4E26-BC72-8E018AA5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4D1"/>
                </a:solidFill>
              </a:defRPr>
            </a:pPr>
            <a:r>
              <a:rPr sz="1275" b="1">
                <a:solidFill>
                  <a:srgbClr val="1674D1"/>
                </a:solidFill>
              </a:rPr>
              <a:t>RESOURCES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55A33B-5B9B-4DCA-96B3-91BDF705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529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Documents available to your role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B19291-A6F6-4EDF-A3CD-E3F2741D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6350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3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0F8A1A-FF1F-45A9-B5EA-EE8AEA9B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19700"/>
            <a:ext cx="2857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DEAE5F-156B-43F0-A906-F0B4A75C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53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98754"/>
                </a:solidFill>
              </a:defRPr>
            </a:pPr>
            <a:r>
              <a:rPr sz="1275" b="1">
                <a:solidFill>
                  <a:srgbClr val="198754"/>
                </a:solidFill>
              </a:rPr>
              <a:t>Official records are read-only</a:t>
            </a:r>
          </a:p>
        </p:txBody>
      </p:sp>
    </p:spTree>
    <p:extLst>
      <p:ext uri="{BB962C8B-B14F-4D97-AF65-F5344CB8AC3E}">
        <p14:creationId xmlns:p14="http://schemas.microsoft.com/office/powerpoint/2010/main" val="8195747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3FB8E3-8579-4264-88B6-23CD84EC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45F"/>
          </a:solidFill>
          <a:ln xmlns:a="http://schemas.openxmlformats.org/drawingml/2006/main" w="0">
            <a:solidFill>
              <a:srgbClr val="0834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E4718-BD42-4598-A814-85953659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4D1"/>
                </a:solidFill>
              </a:defRPr>
            </a:pPr>
            <a:r>
              <a:rPr sz="975" b="1">
                <a:solidFill>
                  <a:srgbClr val="1674D1"/>
                </a:solidFill>
              </a:rPr>
              <a:t>NCO &amp; SQUAD LEADER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9256A-D81A-45B4-AB20-6864CCF2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66136-8CA3-40E4-ADD9-C082D304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1206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28"/>
          </a:solidFill>
          <a:ln xmlns:a="http://schemas.openxmlformats.org/drawingml/2006/main" w="0">
            <a:solidFill>
              <a:srgbClr val="F2B92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46D69-E23C-415B-A20C-9A406211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345F"/>
                </a:solidFill>
              </a:defRPr>
            </a:pPr>
            <a:r>
              <a:rPr sz="2925" b="1">
                <a:solidFill>
                  <a:srgbClr val="08345F"/>
                </a:solidFill>
              </a:rPr>
              <a:t>Squad staff work within their assigned squad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F7B4BE-4CD1-40F1-B952-42A487E5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The server blocks cross-squad access even if someone changes the URL.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0598B0-8F23-433D-AD40-3755C654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28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674D1"/>
          </a:solidFill>
          <a:ln xmlns:a="http://schemas.openxmlformats.org/drawingml/2006/main" w="0">
            <a:solidFill>
              <a:srgbClr val="1674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210C72-EA3F-4B5A-8B1C-CA5FB266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193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Members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D613FB-C8DA-4C89-AA5E-AB1C2E07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62175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View and update the full details of assigned squad members.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939DD2-791D-4B82-9861-963BA0CB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71725"/>
            <a:ext cx="2667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3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C56009-5C73-4997-9D87-BAFA8DBE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228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8345F"/>
          </a:solidFill>
          <a:ln xmlns:a="http://schemas.openxmlformats.org/drawingml/2006/main" w="0">
            <a:solidFill>
              <a:srgbClr val="0834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0C0BD4-D7B8-4312-8550-6235E1A2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194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Attendance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6DFF31-C1C1-4D77-A392-A487FF94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62275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Take and correct attendance for the assigned squad.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CD0792-F5D9-408E-B80D-F83232C1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71825"/>
            <a:ext cx="2667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3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BDA829-1DD2-4F02-B2EC-6AC5B972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228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426B8F"/>
          </a:solidFill>
          <a:ln xmlns:a="http://schemas.openxmlformats.org/drawingml/2006/main" w="0">
            <a:solidFill>
              <a:srgbClr val="426B8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A1149D-51A8-46F0-952A-640D2019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95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Awards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8094A0-BF0E-42F3-BCEA-92B439A5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62375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View member awards and submit personal applications; no award editing.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709FBB-2B77-4164-AB4A-887FA634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71925"/>
            <a:ext cx="2667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3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82A78D-6778-42D9-8094-220D75B9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228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7B91A5"/>
          </a:solidFill>
          <a:ln xmlns:a="http://schemas.openxmlformats.org/drawingml/2006/main" w="0">
            <a:solidFill>
              <a:srgbClr val="7B91A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AA31F2-A8BA-4513-8813-86D74689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196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Approvals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B5130E-914E-4A0F-B815-ED60C27B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62475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Review permitted squad work; final decisions stay with officers/admins.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15B18A-2404-4DBC-A6C5-59ABE86A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72025"/>
            <a:ext cx="2667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3E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156299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239A80-9A92-4DF1-B9B0-D7EF29AE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45F"/>
          </a:solidFill>
          <a:ln xmlns:a="http://schemas.openxmlformats.org/drawingml/2006/main" w="0">
            <a:solidFill>
              <a:srgbClr val="0834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2558D-DA8A-44D7-810C-CEA89EF6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4D1"/>
                </a:solidFill>
              </a:defRPr>
            </a:pPr>
            <a:r>
              <a:rPr sz="975" b="1">
                <a:solidFill>
                  <a:srgbClr val="1674D1"/>
                </a:solidFill>
              </a:rPr>
              <a:t>ATTENDANCE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E244EE-E21C-4A05-9870-05311D18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BE939-8446-4A89-976F-7382B120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85216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28"/>
          </a:solidFill>
          <a:ln xmlns:a="http://schemas.openxmlformats.org/drawingml/2006/main" w="0">
            <a:solidFill>
              <a:srgbClr val="F2B92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B75C1-48CC-4A95-A6ED-49F1BE1A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345F"/>
                </a:solidFill>
              </a:defRPr>
            </a:pPr>
            <a:r>
              <a:rPr sz="2925" b="1">
                <a:solidFill>
                  <a:srgbClr val="08345F"/>
                </a:solidFill>
              </a:rPr>
              <a:t>Complete each register in one clear pass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1B1788-D265-4E97-A4B1-AE7CCDA9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Future meetings never reduce a member’s attendance percentage.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A4FE3-D031-488D-A504-2EB8888B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345F"/>
          </a:solidFill>
          <a:ln xmlns:a="http://schemas.openxmlformats.org/drawingml/2006/main" w="0">
            <a:solidFill>
              <a:srgbClr val="0834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13F2B1-4A0C-4574-B884-4BEA9C83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6879E0-AE6D-4F7C-950B-E7147694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3835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Select the meeting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BFDE4F-DC08-416E-B630-F98CDD17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62200"/>
            <a:ext cx="4267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The nearest applicable meeting is selected automatically.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29458B-0990-4D89-8ED4-6F4FADDC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345F"/>
          </a:solidFill>
          <a:ln xmlns:a="http://schemas.openxmlformats.org/drawingml/2006/main" w="0">
            <a:solidFill>
              <a:srgbClr val="0834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B8C2DA-3314-4293-9126-029C0717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FC55E6-FB40-4697-94E1-7B7BA973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5755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Filter and mark members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4DC48A-D1C9-4AEB-A4B3-8CB31AA4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81400"/>
            <a:ext cx="4267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Use squad search, Mark all present, or individual status buttons.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3D02A8-7CCC-436B-A327-88C75E32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345F"/>
          </a:solidFill>
          <a:ln xmlns:a="http://schemas.openxmlformats.org/drawingml/2006/main" w="0">
            <a:solidFill>
              <a:srgbClr val="0834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F4B675-500A-4593-A1FA-DD00A764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1FE208-90B9-4698-B28B-66D8ED32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7675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Check the summary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98A390-CE6C-4941-B35E-B291F43D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00600"/>
            <a:ext cx="4267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Green means complete; yellow means missing or incomplete details.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92B3B8-ABF6-4667-A338-076263D4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76450"/>
            <a:ext cx="43624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E167C7-16AE-4356-AC6E-FAE34894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812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345F"/>
                </a:solidFill>
              </a:defRPr>
            </a:pPr>
            <a:r>
              <a:rPr sz="1725" b="1">
                <a:solidFill>
                  <a:srgbClr val="08345F"/>
                </a:solidFill>
              </a:rPr>
              <a:t>Attendance status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8584B4-C3FF-4A0C-8090-999F936A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09900"/>
            <a:ext cx="1619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A7DCC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396EC2-22C1-4068-8EC2-65FC9A0C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813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98754"/>
                </a:solidFill>
              </a:defRPr>
            </a:pPr>
            <a:r>
              <a:rPr sz="1350" b="1">
                <a:solidFill>
                  <a:srgbClr val="198754"/>
                </a:solidFill>
              </a:rPr>
              <a:t>GREEN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042180-286A-4439-9901-4D14E337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09900"/>
            <a:ext cx="1619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7D8"/>
          </a:solidFill>
          <a:ln xmlns:a="http://schemas.openxmlformats.org/drawingml/2006/main" w="9525">
            <a:solidFill>
              <a:srgbClr val="E9CE7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99CD41-FA98-4082-BBB2-325ADB03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813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66800"/>
                </a:solidFill>
              </a:defRPr>
            </a:pPr>
            <a:r>
              <a:rPr sz="1350" b="1">
                <a:solidFill>
                  <a:srgbClr val="966800"/>
                </a:solidFill>
              </a:rPr>
              <a:t>YELLOW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05E37D-550C-4E6B-AB9B-DBAEB588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290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4748B"/>
                </a:solidFill>
              </a:defRPr>
            </a:pPr>
            <a:r>
              <a:rPr sz="1275" b="1">
                <a:solidFill>
                  <a:srgbClr val="64748B"/>
                </a:solidFill>
              </a:rPr>
              <a:t>Completed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ECA7A2-757A-443A-BDC9-051CE7FB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4748B"/>
                </a:solidFill>
              </a:defRPr>
            </a:pPr>
            <a:r>
              <a:rPr sz="1275" b="1">
                <a:solidFill>
                  <a:srgbClr val="64748B"/>
                </a:solidFill>
              </a:rPr>
              <a:t>Needs attention</a:t>
            </a:r>
          </a:p>
        </p:txBody>
      </p:sp>
    </p:spTree>
    <p:extLst>
      <p:ext uri="{BB962C8B-B14F-4D97-AF65-F5344CB8AC3E}">
        <p14:creationId xmlns:p14="http://schemas.microsoft.com/office/powerpoint/2010/main" val="14891433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55BCB9-1363-4896-916D-BDDAC27B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45F"/>
          </a:solidFill>
          <a:ln xmlns:a="http://schemas.openxmlformats.org/drawingml/2006/main" w="0">
            <a:solidFill>
              <a:srgbClr val="0834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6038B-608A-4760-8B84-1E5E26B3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4D1"/>
                </a:solidFill>
              </a:defRPr>
            </a:pPr>
            <a:r>
              <a:rPr sz="975" b="1">
                <a:solidFill>
                  <a:srgbClr val="1674D1"/>
                </a:solidFill>
              </a:rPr>
              <a:t>AWARDS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5314AD-45F5-45B7-84D4-1D5A9444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A41D9-0959-4205-A862-811DB0DC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5836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28"/>
          </a:solidFill>
          <a:ln xmlns:a="http://schemas.openxmlformats.org/drawingml/2006/main" w="0">
            <a:solidFill>
              <a:srgbClr val="F2B92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673968-A6FF-483D-A7CB-BE9BB202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345F"/>
                </a:solidFill>
              </a:defRPr>
            </a:pPr>
            <a:r>
              <a:rPr sz="2925" b="1">
                <a:solidFill>
                  <a:srgbClr val="08345F"/>
                </a:solidFill>
              </a:rPr>
              <a:t>Every award follows a visible review trail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869E8-DFE4-43E5-BE96-17ACFC34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A submission starts In progress and updates the member’s matrix after a decision.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8D761-5C5B-4D5C-A0E3-CFCAF0C0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203835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C75E8-23A9-484A-BCA6-A6B01818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74D1"/>
                </a:solidFill>
              </a:defRPr>
            </a:pPr>
            <a:r>
              <a:rPr sz="1650" b="1">
                <a:solidFill>
                  <a:srgbClr val="1674D1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AB7342-2F68-48CA-B597-A0576241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345F"/>
                </a:solidFill>
              </a:defRPr>
            </a:pPr>
            <a:r>
              <a:rPr sz="1575" b="1">
                <a:solidFill>
                  <a:srgbClr val="08345F"/>
                </a:solidFill>
              </a:rPr>
              <a:t>SUBMIT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AFEE22-CBF9-4984-8EF8-4FABB7C3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165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Member or NCO applies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20823C-9308-485F-9FFE-8E6FA1C3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480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B928"/>
                </a:solidFill>
              </a:defRPr>
            </a:pPr>
            <a:r>
              <a:rPr sz="2250" b="1">
                <a:solidFill>
                  <a:srgbClr val="F2B928"/>
                </a:solidFill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B5218D-34E0-420E-A13C-64B8741D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62200"/>
            <a:ext cx="203835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EAF3FC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823606-A88D-43D1-A36C-ECAF11D8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71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74D1"/>
                </a:solidFill>
              </a:defRPr>
            </a:pPr>
            <a:r>
              <a:rPr sz="1650" b="1">
                <a:solidFill>
                  <a:srgbClr val="1674D1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DAEB51-92F5-4170-8CA5-EFAFBBA8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480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345F"/>
                </a:solidFill>
              </a:defRPr>
            </a:pPr>
            <a:r>
              <a:rPr sz="1575" b="1">
                <a:solidFill>
                  <a:srgbClr val="08345F"/>
                </a:solidFill>
              </a:rPr>
              <a:t>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22F091-F518-4393-A8D3-9BA7EDE4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429000"/>
            <a:ext cx="165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Officer checks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7CD2DD-108D-4F6E-BE3A-BFB3DAF6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480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B928"/>
                </a:solidFill>
              </a:defRPr>
            </a:pPr>
            <a:r>
              <a:rPr sz="2250" b="1">
                <a:solidFill>
                  <a:srgbClr val="F2B928"/>
                </a:solidFill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65414D-FC07-4CF9-8B88-E5F8F97E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62200"/>
            <a:ext cx="203835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9B98E8-E284-4539-BD02-9B11FB96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71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74D1"/>
                </a:solidFill>
              </a:defRPr>
            </a:pPr>
            <a:r>
              <a:rPr sz="1650" b="1">
                <a:solidFill>
                  <a:srgbClr val="1674D1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613844-2380-421F-9E33-F0EFECD7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480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345F"/>
                </a:solidFill>
              </a:defRPr>
            </a:pPr>
            <a:r>
              <a:rPr sz="1575" b="1">
                <a:solidFill>
                  <a:srgbClr val="08345F"/>
                </a:solidFill>
              </a:rPr>
              <a:t>DECIDE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773FBB-B271-47D5-95EC-3C0B0A83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429000"/>
            <a:ext cx="165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Approve or reject with notes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E26F46-2D10-4C60-88D8-DCE0BE49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480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B928"/>
                </a:solidFill>
              </a:defRPr>
            </a:pPr>
            <a:r>
              <a:rPr sz="2250" b="1">
                <a:solidFill>
                  <a:srgbClr val="F2B928"/>
                </a:solidFill>
              </a:rPr>
              <a:t>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0A7C32-50E5-4537-93A3-E963C667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62200"/>
            <a:ext cx="203835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7E3E62-0528-4D58-AC36-0BDC9318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71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74D1"/>
                </a:solidFill>
              </a:defRPr>
            </a:pPr>
            <a:r>
              <a:rPr sz="1650" b="1">
                <a:solidFill>
                  <a:srgbClr val="1674D1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574FCF-8A11-4F62-A8E9-F7BF5FFC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480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345F"/>
                </a:solidFill>
              </a:defRPr>
            </a:pPr>
            <a:r>
              <a:rPr sz="1575" b="1">
                <a:solidFill>
                  <a:srgbClr val="08345F"/>
                </a:solidFill>
              </a:rPr>
              <a:t>AWARD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C4BE90-3729-4844-9C1F-FC94717E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29000"/>
            <a:ext cx="165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Matrix reflects final status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F27A9A-6A65-4EBF-BACB-8CA22004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Administrators may archive or delete old submissions. Officers can edit a review result when needed.</a:t>
            </a:r>
          </a:p>
        </p:txBody>
      </p:sp>
    </p:spTree>
    <p:extLst>
      <p:ext uri="{BB962C8B-B14F-4D97-AF65-F5344CB8AC3E}">
        <p14:creationId xmlns:p14="http://schemas.microsoft.com/office/powerpoint/2010/main" val="17995705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BBF65C-3AE1-4E17-B115-C2D660A5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45F"/>
          </a:solidFill>
          <a:ln xmlns:a="http://schemas.openxmlformats.org/drawingml/2006/main" w="0">
            <a:solidFill>
              <a:srgbClr val="0834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B31E2-1F9B-48CB-873F-5A31B0A1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4D1"/>
                </a:solidFill>
              </a:defRPr>
            </a:pPr>
            <a:r>
              <a:rPr sz="975" b="1">
                <a:solidFill>
                  <a:srgbClr val="1674D1"/>
                </a:solidFill>
              </a:rPr>
              <a:t>PROGRAMME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7D62C5-C552-4972-BE93-DD895B11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76E37D-FF1A-4BDD-B7FD-7425653E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31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28"/>
          </a:solidFill>
          <a:ln xmlns:a="http://schemas.openxmlformats.org/drawingml/2006/main" w="0">
            <a:solidFill>
              <a:srgbClr val="F2B92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305EF-B8FC-43C3-9705-E9DDC42C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345F"/>
                </a:solidFill>
              </a:defRPr>
            </a:pPr>
            <a:r>
              <a:rPr sz="2925" b="1">
                <a:solidFill>
                  <a:srgbClr val="08345F"/>
                </a:solidFill>
              </a:rPr>
              <a:t>Programme keeps company activities in one place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612A4-E5DC-4668-8CB5-6F54F6BB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Events, parade plans, duties, committees, resources and notices share the same hub.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68a58406e24990"/>
          <a:srcRect xmlns:a="http://schemas.openxmlformats.org/drawingml/2006/main" l="903" t="0" r="9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000250"/>
            <a:ext cx="63246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79716-9C93-4646-B7D3-35C16C7F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526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345F"/>
                </a:solidFill>
              </a:defRPr>
            </a:pPr>
            <a:r>
              <a:rPr sz="1800" b="1">
                <a:solidFill>
                  <a:srgbClr val="08345F"/>
                </a:solidFill>
              </a:rPr>
              <a:t>Common actions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8A6BAC-9AD3-4E88-A613-10918BD3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667000"/>
            <a:ext cx="34861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• RSVP to an event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• Add an event to your calendar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• View duty assignments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• Read resources and announcements</a:t>
            </a:r>
          </a:p>
        </p:txBody>
      </p:sp>
    </p:spTree>
    <p:extLst>
      <p:ext uri="{BB962C8B-B14F-4D97-AF65-F5344CB8AC3E}">
        <p14:creationId xmlns:p14="http://schemas.microsoft.com/office/powerpoint/2010/main" val="15673876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C123E5-F7F4-4D11-956B-4D716406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45F"/>
          </a:solidFill>
          <a:ln xmlns:a="http://schemas.openxmlformats.org/drawingml/2006/main" w="0">
            <a:solidFill>
              <a:srgbClr val="0834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BEAC7-6D72-4660-BB87-A5B4ECE8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4D1"/>
                </a:solidFill>
              </a:defRPr>
            </a:pPr>
            <a:r>
              <a:rPr sz="975" b="1">
                <a:solidFill>
                  <a:srgbClr val="1674D1"/>
                </a:solidFill>
              </a:rPr>
              <a:t>QUARTERMASTER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87B7D-36F1-4E70-8D94-A71143A0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B22A39-0DC0-41B0-A842-C9DFD624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04672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28"/>
          </a:solidFill>
          <a:ln xmlns:a="http://schemas.openxmlformats.org/drawingml/2006/main" w="0">
            <a:solidFill>
              <a:srgbClr val="F2B92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B1757-12E7-43B5-AA57-E8E51265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345F"/>
                </a:solidFill>
              </a:defRPr>
            </a:pPr>
            <a:r>
              <a:rPr sz="2925" b="1">
                <a:solidFill>
                  <a:srgbClr val="08345F"/>
                </a:solidFill>
              </a:rPr>
              <a:t>Uniform requests and stock use one connected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1D6D0-2C02-4666-8170-F2125CE6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Every issue and return stays linked to a member and the audit history.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51F5D-1A81-47F2-8D27-98A6A60E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4003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949B8-8C0A-483C-B9C2-7E0EE2E9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74D1"/>
                </a:solidFill>
              </a:defRPr>
            </a:pPr>
            <a:r>
              <a:rPr sz="1350" b="1">
                <a:solidFill>
                  <a:srgbClr val="1674D1"/>
                </a:solidFill>
              </a:rPr>
              <a:t>PENDING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3D421-D41B-4480-8B4C-83AC653B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Review request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49157-D49B-40B1-BB23-8AE35143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6860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8345F"/>
                </a:solidFill>
              </a:defRPr>
            </a:pPr>
            <a:r>
              <a:rPr sz="2025" b="1">
                <a:solidFill>
                  <a:srgbClr val="08345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24C9F-8B94-40A8-AD6A-8BAD3408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24100"/>
            <a:ext cx="24003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745B3D-0F77-4EE8-8AEA-69A35A58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3365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74D1"/>
                </a:solidFill>
              </a:defRPr>
            </a:pPr>
            <a:r>
              <a:rPr sz="1350" b="1">
                <a:solidFill>
                  <a:srgbClr val="1674D1"/>
                </a:solidFill>
              </a:rPr>
              <a:t>APPROVED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4010CA-497E-4275-9E0B-D741C8E2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527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Reserve stock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31A431-D6BB-4C5D-BB6D-8CA40BB9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860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8345F"/>
                </a:solidFill>
              </a:defRPr>
            </a:pPr>
            <a:r>
              <a:rPr sz="2025" b="1">
                <a:solidFill>
                  <a:srgbClr val="08345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0423B6-40E7-4689-B537-2B849996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24003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7D8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6B703E-6160-452F-BCD5-44F8C9B6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3365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66800"/>
                </a:solidFill>
              </a:defRPr>
            </a:pPr>
            <a:r>
              <a:rPr sz="1350" b="1">
                <a:solidFill>
                  <a:srgbClr val="966800"/>
                </a:solidFill>
              </a:rPr>
              <a:t>READY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C9BF17-94DD-48AC-91C5-6ADFA7E2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527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Notify collection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AB203C-CEAA-4399-B3B5-CB66D7AD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860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8345F"/>
                </a:solidFill>
              </a:defRPr>
            </a:pPr>
            <a:r>
              <a:rPr sz="2025" b="1">
                <a:solidFill>
                  <a:srgbClr val="08345F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7DCDC3-C602-4B91-AD3B-DFB18098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24100"/>
            <a:ext cx="24003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B5FF5B-D77C-4E1D-AD17-0D57D0FC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3365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74D1"/>
                </a:solidFill>
              </a:defRPr>
            </a:pPr>
            <a:r>
              <a:rPr sz="1350" b="1">
                <a:solidFill>
                  <a:srgbClr val="1674D1"/>
                </a:solidFill>
              </a:rPr>
              <a:t>ISSUED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CE4CF1-10CA-444E-8525-D66D7DC6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527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Confirm handover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BC4B79-405F-458F-A6B8-838E9335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Use Stock Centre to search items, issue or return stock, review low stock and see member holdings.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B771BC-20DE-4C53-8E8A-865A6FB1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9715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036FA0-F0E4-4E84-859A-772F27F6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76825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Defective stock cannot be issued.</a:t>
            </a:r>
          </a:p>
        </p:txBody>
      </p:sp>
    </p:spTree>
    <p:extLst>
      <p:ext uri="{BB962C8B-B14F-4D97-AF65-F5344CB8AC3E}">
        <p14:creationId xmlns:p14="http://schemas.microsoft.com/office/powerpoint/2010/main" val="9071511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EA424-FA1E-453F-810B-FEFDFA7E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45F"/>
          </a:solidFill>
          <a:ln xmlns:a="http://schemas.openxmlformats.org/drawingml/2006/main" w="0">
            <a:solidFill>
              <a:srgbClr val="0834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4356D-2F52-4002-8AFA-FBAB85D8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4D1"/>
                </a:solidFill>
              </a:defRPr>
            </a:pPr>
            <a:r>
              <a:rPr sz="975" b="1">
                <a:solidFill>
                  <a:srgbClr val="1674D1"/>
                </a:solidFill>
              </a:rPr>
              <a:t>ADMINISTRATION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EED041-D217-4903-BCE5-90477055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A6A0A-46E5-464D-A700-2C8706A3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7782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28"/>
          </a:solidFill>
          <a:ln xmlns:a="http://schemas.openxmlformats.org/drawingml/2006/main" w="0">
            <a:solidFill>
              <a:srgbClr val="F2B92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78754-E775-41EE-8471-8CC44016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345F"/>
                </a:solidFill>
              </a:defRPr>
            </a:pPr>
            <a:r>
              <a:rPr sz="2925" b="1">
                <a:solidFill>
                  <a:srgbClr val="08345F"/>
                </a:solidFill>
              </a:rPr>
              <a:t>Admins control access without recreating accounts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6407BC-9898-4F8E-84E4-A0C31A44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Roles, squads, temporary access and custom permissions can be changed safely.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4aeb02d57a429a"/>
          <a:srcRect xmlns:a="http://schemas.openxmlformats.org/drawingml/2006/main" l="2426" t="0" r="24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962150"/>
            <a:ext cx="6191250" cy="3752850"/>
          </a:xfrm>
          <a:prstGeom xmlns:a="http://schemas.openxmlformats.org/drawingml/2006/main" prst="roundRect">
            <a:avLst>
              <a:gd name="adj" fmla="val 304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4D102-E57F-49C5-9248-3E8F0BF2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336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345F"/>
                </a:solidFill>
              </a:defRPr>
            </a:pPr>
            <a:r>
              <a:rPr sz="1800" b="1">
                <a:solidFill>
                  <a:srgbClr val="08345F"/>
                </a:solidFill>
              </a:rPr>
              <a:t>Admin checklist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3F1D26-7F6E-458E-AD2E-1C9B268F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47950"/>
            <a:ext cx="3714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1. Create or link the account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2. Assign role and squad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3. Add custom access only when needed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4. Set an expiry for temporary access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5. Confirm the success message</a:t>
            </a:r>
          </a:p>
        </p:txBody>
      </p:sp>
    </p:spTree>
    <p:extLst>
      <p:ext uri="{BB962C8B-B14F-4D97-AF65-F5344CB8AC3E}">
        <p14:creationId xmlns:p14="http://schemas.microsoft.com/office/powerpoint/2010/main" val="6805108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EDE953-1F60-47F7-8E6C-F09834F6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45F"/>
          </a:solidFill>
          <a:ln xmlns:a="http://schemas.openxmlformats.org/drawingml/2006/main" w="0">
            <a:solidFill>
              <a:srgbClr val="0834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1C329-64CE-4BA5-8602-6F13A8D1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4D1"/>
                </a:solidFill>
              </a:defRPr>
            </a:pPr>
            <a:r>
              <a:rPr sz="975" b="1">
                <a:solidFill>
                  <a:srgbClr val="1674D1"/>
                </a:solidFill>
              </a:rPr>
              <a:t>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900F4-4D78-4566-9150-2CA0D9A0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31DC9-5121-41E3-9F7A-EEBCDE32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0976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28"/>
          </a:solidFill>
          <a:ln xmlns:a="http://schemas.openxmlformats.org/drawingml/2006/main" w="0">
            <a:solidFill>
              <a:srgbClr val="F2B92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4495F-BBB0-4EA9-894F-067FC58D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345F"/>
                </a:solidFill>
              </a:defRPr>
            </a:pPr>
            <a:r>
              <a:rPr sz="2925" b="1">
                <a:solidFill>
                  <a:srgbClr val="08345F"/>
                </a:solidFill>
              </a:rPr>
              <a:t>Reports and audit tools keep work accountable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5A5A3-A16F-4016-825F-D2A98389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Exports follow permissions and record who created them.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E2D5B-85CD-4F05-9DBC-22322064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4D1"/>
                </a:solidFill>
              </a:defRPr>
            </a:pPr>
            <a:r>
              <a:rPr sz="1350" b="1">
                <a:solidFill>
                  <a:srgbClr val="1674D1"/>
                </a:solidFill>
              </a:rPr>
              <a:t>EXPORT CENTRE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C8D043-433A-4B3C-BDA6-2187139E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School reports omit contact, parent and emergency details.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769FA-2CC1-4D49-8C9F-E8702C07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31432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F2B92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D5206F-2A56-4B02-BE87-4ED879A3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4D1"/>
                </a:solidFill>
              </a:defRPr>
            </a:pPr>
            <a:r>
              <a:rPr sz="1350" b="1">
                <a:solidFill>
                  <a:srgbClr val="1674D1"/>
                </a:solidFill>
              </a:rPr>
              <a:t>AUDIT HISTORY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F661FD-48F9-480B-9B95-19B5D9E7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6700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Shows who changed profiles, attendance, awards, roles and stock.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9E6D83-F4E9-4CF5-8135-2BB9C466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33850"/>
            <a:ext cx="31432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F2B92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8CFD46-1DDA-4B98-93BC-520BB660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90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4D1"/>
                </a:solidFill>
              </a:defRPr>
            </a:pPr>
            <a:r>
              <a:rPr sz="1350" b="1">
                <a:solidFill>
                  <a:srgbClr val="1674D1"/>
                </a:solidFill>
              </a:rPr>
              <a:t>AUTOMATION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39B3EF-DA80-4A29-B643-03753A87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6700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Creates reminders and action items—but never approves official decisions.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50FBC3-151C-48F5-841E-7BE805C0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33850"/>
            <a:ext cx="31432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F2B92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FD1E49-243C-4511-967A-5935A154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Before exporting, choose the correct section, school, squad and reporting year.</a:t>
            </a:r>
          </a:p>
        </p:txBody>
      </p:sp>
    </p:spTree>
    <p:extLst>
      <p:ext uri="{BB962C8B-B14F-4D97-AF65-F5344CB8AC3E}">
        <p14:creationId xmlns:p14="http://schemas.microsoft.com/office/powerpoint/2010/main" val="972826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DB9ECA-2136-4EC2-8581-EF85BE24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45F"/>
          </a:solidFill>
          <a:ln xmlns:a="http://schemas.openxmlformats.org/drawingml/2006/main" w="0">
            <a:solidFill>
              <a:srgbClr val="0834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4C2A3A-46C9-49C5-8E17-DA27CCDD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4D1"/>
                </a:solidFill>
              </a:defRPr>
            </a:pPr>
            <a:r>
              <a:rPr sz="975" b="1">
                <a:solidFill>
                  <a:srgbClr val="1674D1"/>
                </a:solidFill>
              </a:rPr>
              <a:t>SAFE 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83BF3-6AD6-4361-AE33-E99897F4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DF76E-F81F-45D9-BA6D-DF176703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2412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28"/>
          </a:solidFill>
          <a:ln xmlns:a="http://schemas.openxmlformats.org/drawingml/2006/main" w="0">
            <a:solidFill>
              <a:srgbClr val="F2B92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73288C-12CC-4BEA-B054-8152661E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345F"/>
                </a:solidFill>
              </a:defRPr>
            </a:pPr>
            <a:r>
              <a:rPr sz="2925" b="1">
                <a:solidFill>
                  <a:srgbClr val="08345F"/>
                </a:solidFill>
              </a:rPr>
              <a:t>The safest action is the one you can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AC2CB-8AF5-4CA3-93AB-E0D4CE6F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Pause when the role, member, section or result does not look right.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C5891E-E716-48CE-88AF-6EBD3A4D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8754"/>
                </a:solidFill>
              </a:defRPr>
            </a:pPr>
            <a:r>
              <a:rPr sz="1350" b="1">
                <a:solidFill>
                  <a:srgbClr val="198754"/>
                </a:solidFill>
              </a:rPr>
              <a:t>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3ABD2A-D81E-4934-AFA7-69879DF1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076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Read the success message before pressing again.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2BB5D3-4FD2-47A6-A94D-48C841BC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8754"/>
                </a:solidFill>
              </a:defRPr>
            </a:pPr>
            <a:r>
              <a:rPr sz="1350" b="1">
                <a:solidFill>
                  <a:srgbClr val="198754"/>
                </a:solidFill>
              </a:rPr>
              <a:t>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F2DC19-E436-4EDA-90F7-BE257D1F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956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Check Senior / Junior and the member or squad.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D37580-EBDD-4329-8D9D-02F3C3E7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8754"/>
                </a:solidFill>
              </a:defRPr>
            </a:pPr>
            <a:r>
              <a:rPr sz="1350" b="1">
                <a:solidFill>
                  <a:srgbClr val="198754"/>
                </a:solidFill>
              </a:rPr>
              <a:t>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E68E06-744A-48FF-8BF6-1D846687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147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Use correction requests for official profile errors.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4772C8-584F-4901-881D-C5CE5C86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DON’T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C7A090-2127-43B7-A757-A398FFDD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339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Share passwords, screenshots or exports unnecessarily.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16CA7B-385D-4ACA-8D6E-D632128A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86400"/>
            <a:ext cx="9715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3FC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7F5514-2981-437E-BADB-28176ED9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19750"/>
            <a:ext cx="929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345F"/>
                </a:solidFill>
              </a:defRPr>
            </a:pPr>
            <a:r>
              <a:rPr sz="1350" b="1">
                <a:solidFill>
                  <a:srgbClr val="08345F"/>
                </a:solidFill>
              </a:rPr>
              <a:t>When in doubt: stop, take a screenshot, and contact an officer or administrator.</a:t>
            </a:r>
          </a:p>
        </p:txBody>
      </p:sp>
    </p:spTree>
    <p:extLst>
      <p:ext uri="{BB962C8B-B14F-4D97-AF65-F5344CB8AC3E}">
        <p14:creationId xmlns:p14="http://schemas.microsoft.com/office/powerpoint/2010/main" val="9002309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34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A99258-E93E-468E-B8A3-7A4E07E6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B928"/>
                </a:solidFill>
              </a:defRPr>
            </a:pPr>
            <a:r>
              <a:rPr sz="1125" b="1">
                <a:solidFill>
                  <a:srgbClr val="F2B928"/>
                </a:solidFill>
              </a:rPr>
              <a:t>YOU’RE READY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BDEFD-0794-4649-B226-0EBD3360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14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Five habits make the app easy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3EEACF-146D-4E8F-B469-C1FD6E4D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B928"/>
                </a:solidFill>
              </a:defRPr>
            </a:pPr>
            <a:r>
              <a:rPr sz="1650" b="1">
                <a:solidFill>
                  <a:srgbClr val="F2B928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2B2DA6-B83B-4A9C-AD92-4B0E3A4D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050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Choose the correct section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2965F6-9B52-4FA6-B5DC-49534968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B928"/>
                </a:solidFill>
              </a:defRPr>
            </a:pPr>
            <a:r>
              <a:rPr sz="1650" b="1">
                <a:solidFill>
                  <a:srgbClr val="F2B928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E59A4-A576-4F8A-BC89-78478B0F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527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Start from the right hub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0319F-6831-4798-9CE2-058F7100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B928"/>
                </a:solidFill>
              </a:defRPr>
            </a:pPr>
            <a:r>
              <a:rPr sz="1650" b="1">
                <a:solidFill>
                  <a:srgbClr val="F2B928"/>
                </a:solidFill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DD44E-1523-420E-ADCE-0ACA1B92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004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Open only work assigned to your role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DDEEC0-B998-4C6A-8D5E-87BC9305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B928"/>
                </a:solidFill>
              </a:defRPr>
            </a:pPr>
            <a:r>
              <a:rPr sz="1650" b="1">
                <a:solidFill>
                  <a:srgbClr val="F2B928"/>
                </a:solidFill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F0D8A-4C0D-4CE7-A51A-017E2A3D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481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Wait for the success confirmation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0427D5-6472-4977-9FBB-D6BC6DA7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95850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B928"/>
                </a:solidFill>
              </a:defRPr>
            </a:pPr>
            <a:r>
              <a:rPr sz="1650" b="1">
                <a:solidFill>
                  <a:srgbClr val="F2B928"/>
                </a:solidFill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105E0B-6424-44E7-A45C-D2EC1765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958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Sign out on shared devices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B0A326-43C9-48C8-8D1A-644A2E59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71700"/>
            <a:ext cx="26289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0F477B"/>
          </a:solidFill>
          <a:ln xmlns:a="http://schemas.openxmlformats.org/drawingml/2006/main" w="9525">
            <a:solidFill>
              <a:srgbClr val="2D619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5B55D1-0556-428A-AF72-E7AA611E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14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2B928"/>
                </a:solidFill>
              </a:defRPr>
            </a:pPr>
            <a:r>
              <a:rPr sz="1875" b="1">
                <a:solidFill>
                  <a:srgbClr val="F2B928"/>
                </a:solidFill>
              </a:rPr>
              <a:t>Need help?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092CC2-2650-490D-A9EA-905F62AB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86100"/>
            <a:ext cx="2057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Contact your officer or administrator with the page name and a screenshot.</a:t>
            </a:r>
          </a:p>
        </p:txBody>
      </p:sp>
    </p:spTree>
    <p:extLst>
      <p:ext uri="{BB962C8B-B14F-4D97-AF65-F5344CB8AC3E}">
        <p14:creationId xmlns:p14="http://schemas.microsoft.com/office/powerpoint/2010/main" val="9331299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2026-08-23T11:32:29.6130000Z</dcterms:created>
  <dcterms:modified xsi:type="dcterms:W3CDTF">2026-08-23T11:32:29.6130000Z</dcterms:modified>
</coreProperties>
</file>